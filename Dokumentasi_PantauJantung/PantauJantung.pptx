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League Spartan" charset="1" panose="00000800000000000000"/>
      <p:regular r:id="rId19"/>
    </p:embeddedFont>
    <p:embeddedFont>
      <p:font typeface="Montserrat Bold" charset="1" panose="00000800000000000000"/>
      <p:regular r:id="rId20"/>
    </p:embeddedFont>
    <p:embeddedFont>
      <p:font typeface="Glacial Indifference Bold" charset="1" panose="00000800000000000000"/>
      <p:regular r:id="rId21"/>
    </p:embeddedFont>
    <p:embeddedFont>
      <p:font typeface="Glacial Indifference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jpe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2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svg" Type="http://schemas.openxmlformats.org/officeDocument/2006/relationships/image"/><Relationship Id="rId12" Target="../media/image50.png" Type="http://schemas.openxmlformats.org/officeDocument/2006/relationships/image"/><Relationship Id="rId13" Target="../media/image51.svg" Type="http://schemas.openxmlformats.org/officeDocument/2006/relationships/image"/><Relationship Id="rId14" Target="../media/image52.png" Type="http://schemas.openxmlformats.org/officeDocument/2006/relationships/image"/><Relationship Id="rId15" Target="../media/image53.svg" Type="http://schemas.openxmlformats.org/officeDocument/2006/relationships/image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jpeg" Type="http://schemas.openxmlformats.org/officeDocument/2006/relationships/image"/><Relationship Id="rId11" Target="../media/VAHXtc-lkYc.mp4" Type="http://schemas.openxmlformats.org/officeDocument/2006/relationships/video"/><Relationship Id="rId12" Target="../media/VAHXtc-lkYc.mp4" Type="http://schemas.microsoft.com/office/2007/relationships/media"/><Relationship Id="rId2" Target="../media/image62.png" Type="http://schemas.openxmlformats.org/officeDocument/2006/relationships/image"/><Relationship Id="rId3" Target="../media/image63.svg" Type="http://schemas.openxmlformats.org/officeDocument/2006/relationships/image"/><Relationship Id="rId4" Target="../media/image64.png" Type="http://schemas.openxmlformats.org/officeDocument/2006/relationships/image"/><Relationship Id="rId5" Target="../media/image65.svg" Type="http://schemas.openxmlformats.org/officeDocument/2006/relationships/image"/><Relationship Id="rId6" Target="../media/image66.png" Type="http://schemas.openxmlformats.org/officeDocument/2006/relationships/image"/><Relationship Id="rId7" Target="../media/image67.svg" Type="http://schemas.openxmlformats.org/officeDocument/2006/relationships/image"/><Relationship Id="rId8" Target="../media/image68.png" Type="http://schemas.openxmlformats.org/officeDocument/2006/relationships/image"/><Relationship Id="rId9" Target="../media/image6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2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svg" Type="http://schemas.openxmlformats.org/officeDocument/2006/relationships/image"/><Relationship Id="rId4" Target="../media/image64.png" Type="http://schemas.openxmlformats.org/officeDocument/2006/relationships/image"/><Relationship Id="rId5" Target="../media/image65.svg" Type="http://schemas.openxmlformats.org/officeDocument/2006/relationships/image"/><Relationship Id="rId6" Target="../media/image66.png" Type="http://schemas.openxmlformats.org/officeDocument/2006/relationships/image"/><Relationship Id="rId7" Target="../media/image67.svg" Type="http://schemas.openxmlformats.org/officeDocument/2006/relationships/image"/><Relationship Id="rId8" Target="../media/image68.png" Type="http://schemas.openxmlformats.org/officeDocument/2006/relationships/image"/><Relationship Id="rId9" Target="../media/image6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svg" Type="http://schemas.openxmlformats.org/officeDocument/2006/relationships/image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71.png" Type="http://schemas.openxmlformats.org/officeDocument/2006/relationships/image"/><Relationship Id="rId9" Target="../media/image7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2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11" Target="../media/image84.svg" Type="http://schemas.openxmlformats.org/officeDocument/2006/relationships/image"/><Relationship Id="rId12" Target="../media/image85.png" Type="http://schemas.openxmlformats.org/officeDocument/2006/relationships/image"/><Relationship Id="rId13" Target="../media/image86.svg" Type="http://schemas.openxmlformats.org/officeDocument/2006/relationships/image"/><Relationship Id="rId2" Target="../media/image75.png" Type="http://schemas.openxmlformats.org/officeDocument/2006/relationships/image"/><Relationship Id="rId3" Target="../media/image76.svg" Type="http://schemas.openxmlformats.org/officeDocument/2006/relationships/image"/><Relationship Id="rId4" Target="../media/image77.png" Type="http://schemas.openxmlformats.org/officeDocument/2006/relationships/image"/><Relationship Id="rId5" Target="../media/image78.svg" Type="http://schemas.openxmlformats.org/officeDocument/2006/relationships/image"/><Relationship Id="rId6" Target="../media/image79.png" Type="http://schemas.openxmlformats.org/officeDocument/2006/relationships/image"/><Relationship Id="rId7" Target="../media/image80.svg" Type="http://schemas.openxmlformats.org/officeDocument/2006/relationships/image"/><Relationship Id="rId8" Target="../media/image81.png" Type="http://schemas.openxmlformats.org/officeDocument/2006/relationships/image"/><Relationship Id="rId9" Target="../media/image8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36180">
            <a:off x="7930601" y="763448"/>
            <a:ext cx="13100094" cy="11385175"/>
          </a:xfrm>
          <a:custGeom>
            <a:avLst/>
            <a:gdLst/>
            <a:ahLst/>
            <a:cxnLst/>
            <a:rect r="r" b="b" t="t" l="l"/>
            <a:pathLst>
              <a:path h="11385175" w="13100094">
                <a:moveTo>
                  <a:pt x="0" y="0"/>
                </a:moveTo>
                <a:lnTo>
                  <a:pt x="13100094" y="0"/>
                </a:lnTo>
                <a:lnTo>
                  <a:pt x="13100094" y="11385175"/>
                </a:lnTo>
                <a:lnTo>
                  <a:pt x="0" y="113851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7" r="0" b="-4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42617" y="8546592"/>
            <a:ext cx="3136983" cy="621697"/>
            <a:chOff x="0" y="0"/>
            <a:chExt cx="4182643" cy="8289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82618" cy="828929"/>
            </a:xfrm>
            <a:custGeom>
              <a:avLst/>
              <a:gdLst/>
              <a:ahLst/>
              <a:cxnLst/>
              <a:rect r="r" b="b" t="t" l="l"/>
              <a:pathLst>
                <a:path h="828929" w="4182618">
                  <a:moveTo>
                    <a:pt x="0" y="0"/>
                  </a:moveTo>
                  <a:lnTo>
                    <a:pt x="4182618" y="0"/>
                  </a:lnTo>
                  <a:lnTo>
                    <a:pt x="4182618" y="828929"/>
                  </a:lnTo>
                  <a:lnTo>
                    <a:pt x="0" y="828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5" r="0" b="-84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369522" y="6332049"/>
            <a:ext cx="4443917" cy="2383212"/>
          </a:xfrm>
          <a:custGeom>
            <a:avLst/>
            <a:gdLst/>
            <a:ahLst/>
            <a:cxnLst/>
            <a:rect r="r" b="b" t="t" l="l"/>
            <a:pathLst>
              <a:path h="2383212" w="4443917">
                <a:moveTo>
                  <a:pt x="0" y="0"/>
                </a:moveTo>
                <a:lnTo>
                  <a:pt x="4443918" y="0"/>
                </a:lnTo>
                <a:lnTo>
                  <a:pt x="4443918" y="2383212"/>
                </a:lnTo>
                <a:lnTo>
                  <a:pt x="0" y="23832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10" r="0" b="-11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278095" y="2827125"/>
            <a:ext cx="4369441" cy="6084027"/>
            <a:chOff x="0" y="0"/>
            <a:chExt cx="5825922" cy="81120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25871" cy="8111998"/>
            </a:xfrm>
            <a:custGeom>
              <a:avLst/>
              <a:gdLst/>
              <a:ahLst/>
              <a:cxnLst/>
              <a:rect r="r" b="b" t="t" l="l"/>
              <a:pathLst>
                <a:path h="8111998" w="5825871">
                  <a:moveTo>
                    <a:pt x="0" y="0"/>
                  </a:moveTo>
                  <a:lnTo>
                    <a:pt x="5825871" y="0"/>
                  </a:lnTo>
                  <a:lnTo>
                    <a:pt x="5825871" y="8111998"/>
                  </a:lnTo>
                  <a:lnTo>
                    <a:pt x="0" y="8111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7" t="0" r="-48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647537" y="6152979"/>
            <a:ext cx="4443917" cy="2383212"/>
          </a:xfrm>
          <a:custGeom>
            <a:avLst/>
            <a:gdLst/>
            <a:ahLst/>
            <a:cxnLst/>
            <a:rect r="r" b="b" t="t" l="l"/>
            <a:pathLst>
              <a:path h="2383212" w="4443917">
                <a:moveTo>
                  <a:pt x="0" y="0"/>
                </a:moveTo>
                <a:lnTo>
                  <a:pt x="4443917" y="0"/>
                </a:lnTo>
                <a:lnTo>
                  <a:pt x="4443917" y="2383212"/>
                </a:lnTo>
                <a:lnTo>
                  <a:pt x="0" y="23832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10" r="0" b="-11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1383840"/>
            <a:ext cx="809425" cy="809425"/>
          </a:xfrm>
          <a:custGeom>
            <a:avLst/>
            <a:gdLst/>
            <a:ahLst/>
            <a:cxnLst/>
            <a:rect r="r" b="b" t="t" l="l"/>
            <a:pathLst>
              <a:path h="809425" w="809425">
                <a:moveTo>
                  <a:pt x="0" y="0"/>
                </a:moveTo>
                <a:lnTo>
                  <a:pt x="809425" y="0"/>
                </a:lnTo>
                <a:lnTo>
                  <a:pt x="809425" y="809425"/>
                </a:lnTo>
                <a:lnTo>
                  <a:pt x="0" y="8094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44595" y="1834515"/>
            <a:ext cx="6400800" cy="46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1899" b="true">
                <a:solidFill>
                  <a:srgbClr val="353535"/>
                </a:solidFill>
                <a:latin typeface="Poppins Bold"/>
                <a:ea typeface="Poppins Bold"/>
                <a:cs typeface="Poppins Bold"/>
                <a:sym typeface="Poppins Bold"/>
              </a:rPr>
              <a:t>National Hackathon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4595" y="1350597"/>
            <a:ext cx="6400800" cy="46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b="true" sz="1899" spc="282">
                <a:solidFill>
                  <a:srgbClr val="353535"/>
                </a:solidFill>
                <a:latin typeface="Poppins Bold"/>
                <a:ea typeface="Poppins Bold"/>
                <a:cs typeface="Poppins Bold"/>
                <a:sym typeface="Poppins Bold"/>
              </a:rPr>
              <a:t>IBM SkillsBuild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800340">
            <a:off x="8663273" y="4602004"/>
            <a:ext cx="1559281" cy="1082992"/>
          </a:xfrm>
          <a:custGeom>
            <a:avLst/>
            <a:gdLst/>
            <a:ahLst/>
            <a:cxnLst/>
            <a:rect r="r" b="b" t="t" l="l"/>
            <a:pathLst>
              <a:path h="1082992" w="1559281">
                <a:moveTo>
                  <a:pt x="0" y="0"/>
                </a:moveTo>
                <a:lnTo>
                  <a:pt x="1559281" y="0"/>
                </a:lnTo>
                <a:lnTo>
                  <a:pt x="1559281" y="1082992"/>
                </a:lnTo>
                <a:lnTo>
                  <a:pt x="0" y="10829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63" t="0" r="-263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819840">
            <a:off x="15832084" y="1194254"/>
            <a:ext cx="1611973" cy="1755610"/>
          </a:xfrm>
          <a:custGeom>
            <a:avLst/>
            <a:gdLst/>
            <a:ahLst/>
            <a:cxnLst/>
            <a:rect r="r" b="b" t="t" l="l"/>
            <a:pathLst>
              <a:path h="1755610" w="1611973">
                <a:moveTo>
                  <a:pt x="0" y="0"/>
                </a:moveTo>
                <a:lnTo>
                  <a:pt x="1611972" y="0"/>
                </a:lnTo>
                <a:lnTo>
                  <a:pt x="1611972" y="1755610"/>
                </a:lnTo>
                <a:lnTo>
                  <a:pt x="0" y="17556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230" r="0" b="-23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855713" y="1250252"/>
            <a:ext cx="624935" cy="573805"/>
          </a:xfrm>
          <a:custGeom>
            <a:avLst/>
            <a:gdLst/>
            <a:ahLst/>
            <a:cxnLst/>
            <a:rect r="r" b="b" t="t" l="l"/>
            <a:pathLst>
              <a:path h="573805" w="624935">
                <a:moveTo>
                  <a:pt x="0" y="0"/>
                </a:moveTo>
                <a:lnTo>
                  <a:pt x="624935" y="0"/>
                </a:lnTo>
                <a:lnTo>
                  <a:pt x="624935" y="573805"/>
                </a:lnTo>
                <a:lnTo>
                  <a:pt x="0" y="57380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330" r="0" b="-33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3170025"/>
            <a:ext cx="7820273" cy="328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8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PANTAU</a:t>
            </a:r>
          </a:p>
          <a:p>
            <a:pPr algn="l">
              <a:lnSpc>
                <a:spcPts val="8999"/>
              </a:lnSpc>
            </a:pPr>
            <a:r>
              <a:rPr lang="en-US" sz="8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JANTUNG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764363"/>
            <a:ext cx="7498080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18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Pemantau detak jantung dan kadar oksigen dengan alat sensor, ditambah asisten AI yang menjelaskan hasilnya dengan bahasa sehari-hari untuk warga pelosok dan kader kesehatan.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8711565"/>
            <a:ext cx="3910136" cy="59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Farhat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8319135"/>
            <a:ext cx="2560330" cy="47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Disusun oleh: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559375" y="2253320"/>
            <a:ext cx="624935" cy="573805"/>
          </a:xfrm>
          <a:custGeom>
            <a:avLst/>
            <a:gdLst/>
            <a:ahLst/>
            <a:cxnLst/>
            <a:rect r="r" b="b" t="t" l="l"/>
            <a:pathLst>
              <a:path h="573805" w="624935">
                <a:moveTo>
                  <a:pt x="0" y="0"/>
                </a:moveTo>
                <a:lnTo>
                  <a:pt x="624935" y="0"/>
                </a:lnTo>
                <a:lnTo>
                  <a:pt x="624935" y="573805"/>
                </a:lnTo>
                <a:lnTo>
                  <a:pt x="0" y="57380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330" r="0" b="-33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965628" y="454895"/>
            <a:ext cx="624935" cy="573805"/>
          </a:xfrm>
          <a:custGeom>
            <a:avLst/>
            <a:gdLst/>
            <a:ahLst/>
            <a:cxnLst/>
            <a:rect r="r" b="b" t="t" l="l"/>
            <a:pathLst>
              <a:path h="573805" w="624935">
                <a:moveTo>
                  <a:pt x="0" y="0"/>
                </a:moveTo>
                <a:lnTo>
                  <a:pt x="624935" y="0"/>
                </a:lnTo>
                <a:lnTo>
                  <a:pt x="624935" y="573805"/>
                </a:lnTo>
                <a:lnTo>
                  <a:pt x="0" y="57380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330" r="0" b="-33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335060" y="-286903"/>
            <a:ext cx="624935" cy="573805"/>
          </a:xfrm>
          <a:custGeom>
            <a:avLst/>
            <a:gdLst/>
            <a:ahLst/>
            <a:cxnLst/>
            <a:rect r="r" b="b" t="t" l="l"/>
            <a:pathLst>
              <a:path h="573805" w="624935">
                <a:moveTo>
                  <a:pt x="0" y="0"/>
                </a:moveTo>
                <a:lnTo>
                  <a:pt x="624935" y="0"/>
                </a:lnTo>
                <a:lnTo>
                  <a:pt x="624935" y="573806"/>
                </a:lnTo>
                <a:lnTo>
                  <a:pt x="0" y="5738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330" r="0" b="-33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309904" y="8971397"/>
            <a:ext cx="624935" cy="573805"/>
          </a:xfrm>
          <a:custGeom>
            <a:avLst/>
            <a:gdLst/>
            <a:ahLst/>
            <a:cxnLst/>
            <a:rect r="r" b="b" t="t" l="l"/>
            <a:pathLst>
              <a:path h="573805" w="624935">
                <a:moveTo>
                  <a:pt x="0" y="0"/>
                </a:moveTo>
                <a:lnTo>
                  <a:pt x="624935" y="0"/>
                </a:lnTo>
                <a:lnTo>
                  <a:pt x="624935" y="573806"/>
                </a:lnTo>
                <a:lnTo>
                  <a:pt x="0" y="5738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330" r="0" b="-33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05840" y="9385935"/>
            <a:ext cx="1097280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0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Healthcare &amp; Wellbeing  ·  IBM Langflow  ·  IBM Bob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96860" y="-1101176"/>
            <a:ext cx="10677420" cy="10835011"/>
          </a:xfrm>
          <a:custGeom>
            <a:avLst/>
            <a:gdLst/>
            <a:ahLst/>
            <a:cxnLst/>
            <a:rect r="r" b="b" t="t" l="l"/>
            <a:pathLst>
              <a:path h="10835011" w="10677420">
                <a:moveTo>
                  <a:pt x="0" y="0"/>
                </a:moveTo>
                <a:lnTo>
                  <a:pt x="10677420" y="0"/>
                </a:lnTo>
                <a:lnTo>
                  <a:pt x="10677420" y="10835012"/>
                </a:lnTo>
                <a:lnTo>
                  <a:pt x="0" y="10835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" t="0" r="-2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74204" y="2347474"/>
            <a:ext cx="4772454" cy="5706189"/>
          </a:xfrm>
          <a:custGeom>
            <a:avLst/>
            <a:gdLst/>
            <a:ahLst/>
            <a:cxnLst/>
            <a:rect r="r" b="b" t="t" l="l"/>
            <a:pathLst>
              <a:path h="5706189" w="4772454">
                <a:moveTo>
                  <a:pt x="0" y="0"/>
                </a:moveTo>
                <a:lnTo>
                  <a:pt x="4772454" y="0"/>
                </a:lnTo>
                <a:lnTo>
                  <a:pt x="4772454" y="5706190"/>
                </a:lnTo>
                <a:lnTo>
                  <a:pt x="0" y="5706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8" t="0" r="-1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23088" y="5742461"/>
            <a:ext cx="1688325" cy="1688325"/>
          </a:xfrm>
          <a:custGeom>
            <a:avLst/>
            <a:gdLst/>
            <a:ahLst/>
            <a:cxnLst/>
            <a:rect r="r" b="b" t="t" l="l"/>
            <a:pathLst>
              <a:path h="1688325" w="1688325">
                <a:moveTo>
                  <a:pt x="0" y="0"/>
                </a:moveTo>
                <a:lnTo>
                  <a:pt x="1688325" y="0"/>
                </a:lnTo>
                <a:lnTo>
                  <a:pt x="1688325" y="1688325"/>
                </a:lnTo>
                <a:lnTo>
                  <a:pt x="0" y="1688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12953" y="5742461"/>
            <a:ext cx="1688325" cy="1688325"/>
          </a:xfrm>
          <a:custGeom>
            <a:avLst/>
            <a:gdLst/>
            <a:ahLst/>
            <a:cxnLst/>
            <a:rect r="r" b="b" t="t" l="l"/>
            <a:pathLst>
              <a:path h="1688325" w="1688325">
                <a:moveTo>
                  <a:pt x="0" y="0"/>
                </a:moveTo>
                <a:lnTo>
                  <a:pt x="1688326" y="0"/>
                </a:lnTo>
                <a:lnTo>
                  <a:pt x="1688326" y="1688325"/>
                </a:lnTo>
                <a:lnTo>
                  <a:pt x="0" y="1688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10873" y="5742461"/>
            <a:ext cx="1688325" cy="1688325"/>
          </a:xfrm>
          <a:custGeom>
            <a:avLst/>
            <a:gdLst/>
            <a:ahLst/>
            <a:cxnLst/>
            <a:rect r="r" b="b" t="t" l="l"/>
            <a:pathLst>
              <a:path h="1688325" w="1688325">
                <a:moveTo>
                  <a:pt x="0" y="0"/>
                </a:moveTo>
                <a:lnTo>
                  <a:pt x="1688326" y="0"/>
                </a:lnTo>
                <a:lnTo>
                  <a:pt x="1688326" y="1688325"/>
                </a:lnTo>
                <a:lnTo>
                  <a:pt x="0" y="1688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555380">
            <a:off x="-267614" y="7983484"/>
            <a:ext cx="1951511" cy="1543469"/>
          </a:xfrm>
          <a:custGeom>
            <a:avLst/>
            <a:gdLst/>
            <a:ahLst/>
            <a:cxnLst/>
            <a:rect r="r" b="b" t="t" l="l"/>
            <a:pathLst>
              <a:path h="1543469" w="1951511">
                <a:moveTo>
                  <a:pt x="0" y="0"/>
                </a:moveTo>
                <a:lnTo>
                  <a:pt x="1951510" y="0"/>
                </a:lnTo>
                <a:lnTo>
                  <a:pt x="1951510" y="1543469"/>
                </a:lnTo>
                <a:lnTo>
                  <a:pt x="0" y="15434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2" r="0" b="-2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160880">
            <a:off x="11611708" y="8111833"/>
            <a:ext cx="1802435" cy="2207876"/>
          </a:xfrm>
          <a:custGeom>
            <a:avLst/>
            <a:gdLst/>
            <a:ahLst/>
            <a:cxnLst/>
            <a:rect r="r" b="b" t="t" l="l"/>
            <a:pathLst>
              <a:path h="2207876" w="1802435">
                <a:moveTo>
                  <a:pt x="0" y="0"/>
                </a:moveTo>
                <a:lnTo>
                  <a:pt x="1802435" y="0"/>
                </a:lnTo>
                <a:lnTo>
                  <a:pt x="1802435" y="2207876"/>
                </a:lnTo>
                <a:lnTo>
                  <a:pt x="0" y="22078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56" r="0" b="-56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9854146" y="304705"/>
            <a:ext cx="1442723" cy="1447981"/>
          </a:xfrm>
          <a:custGeom>
            <a:avLst/>
            <a:gdLst/>
            <a:ahLst/>
            <a:cxnLst/>
            <a:rect r="r" b="b" t="t" l="l"/>
            <a:pathLst>
              <a:path h="1447981" w="1442723">
                <a:moveTo>
                  <a:pt x="1442723" y="0"/>
                </a:moveTo>
                <a:lnTo>
                  <a:pt x="0" y="0"/>
                </a:lnTo>
                <a:lnTo>
                  <a:pt x="0" y="1447981"/>
                </a:lnTo>
                <a:lnTo>
                  <a:pt x="1442723" y="1447981"/>
                </a:lnTo>
                <a:lnTo>
                  <a:pt x="1442723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46" r="0" b="-14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981075"/>
            <a:ext cx="10268160" cy="199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JANTUNG: PENYEBAB KEMATIAN</a:t>
            </a:r>
          </a:p>
          <a:p>
            <a:pPr algn="l">
              <a:lnSpc>
                <a:spcPts val="7000"/>
              </a:lnSpc>
            </a:pP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TERBESAR DI INDONESIA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146336"/>
            <a:ext cx="10241280" cy="241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8"/>
              </a:lnSpc>
            </a:pPr>
            <a:r>
              <a:rPr lang="en-U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Warga dan kader kesehatan di daerah pelosok mengukur detak jantung dan kadar oksigen, tetapi angka mentah sulit dipahami dan tidak tercatat berkelanjutan. Harapannya: tahu kapan cukup istirahat dan kapan harus ke puskesmas, dengan riwayat yang bisa dipantau.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8720" y="7503795"/>
            <a:ext cx="3108960" cy="154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18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kematian per tahun akibat penyakit jantung dan pembuluh darah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89120" y="7503795"/>
            <a:ext cx="3108960" cy="154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18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 antaranya akibat penyakit jantung, kedua setelah stroke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72400" y="7503795"/>
            <a:ext cx="3108960" cy="154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18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prevalensi penyakit jantung berdasarkan diagnosis dokter (SKI 2023)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414023" y="5570296"/>
            <a:ext cx="1442723" cy="1447981"/>
          </a:xfrm>
          <a:custGeom>
            <a:avLst/>
            <a:gdLst/>
            <a:ahLst/>
            <a:cxnLst/>
            <a:rect r="r" b="b" t="t" l="l"/>
            <a:pathLst>
              <a:path h="1447981" w="1442723">
                <a:moveTo>
                  <a:pt x="0" y="0"/>
                </a:moveTo>
                <a:lnTo>
                  <a:pt x="1442723" y="0"/>
                </a:lnTo>
                <a:lnTo>
                  <a:pt x="1442723" y="1447981"/>
                </a:lnTo>
                <a:lnTo>
                  <a:pt x="0" y="14479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46" r="0" b="-146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5987120" y="9215771"/>
            <a:ext cx="1442723" cy="1447981"/>
          </a:xfrm>
          <a:custGeom>
            <a:avLst/>
            <a:gdLst/>
            <a:ahLst/>
            <a:cxnLst/>
            <a:rect r="r" b="b" t="t" l="l"/>
            <a:pathLst>
              <a:path h="1447981" w="1442723">
                <a:moveTo>
                  <a:pt x="1442723" y="0"/>
                </a:moveTo>
                <a:lnTo>
                  <a:pt x="0" y="0"/>
                </a:lnTo>
                <a:lnTo>
                  <a:pt x="0" y="1447981"/>
                </a:lnTo>
                <a:lnTo>
                  <a:pt x="1442723" y="1447981"/>
                </a:lnTo>
                <a:lnTo>
                  <a:pt x="1442723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46" r="0" b="-146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920240" y="5760720"/>
            <a:ext cx="1645920" cy="1645920"/>
            <a:chOff x="0" y="0"/>
            <a:chExt cx="2194560" cy="2194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76225"/>
              <a:ext cx="2194560" cy="2470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99"/>
                </a:lnSpc>
              </a:pPr>
              <a:r>
                <a:rPr lang="en-US" sz="2199" b="true">
                  <a:solidFill>
                    <a:srgbClr val="2E6DB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~800.000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20640" y="5760720"/>
            <a:ext cx="1645920" cy="1645920"/>
            <a:chOff x="0" y="0"/>
            <a:chExt cx="2194560" cy="21945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76225"/>
              <a:ext cx="2194560" cy="2470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99"/>
                </a:lnSpc>
              </a:pPr>
              <a:r>
                <a:rPr lang="en-US" sz="2199" b="true">
                  <a:solidFill>
                    <a:srgbClr val="2E6DB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~260.000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503920" y="5760720"/>
            <a:ext cx="1645920" cy="1645920"/>
            <a:chOff x="0" y="0"/>
            <a:chExt cx="2194560" cy="21945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76225"/>
              <a:ext cx="2194560" cy="2470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99"/>
                </a:lnSpc>
              </a:pPr>
              <a:r>
                <a:rPr lang="en-US" sz="2199" b="true">
                  <a:solidFill>
                    <a:srgbClr val="2E6DB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0,85%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645920" y="9228166"/>
            <a:ext cx="137160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0"/>
              </a:lnSpc>
            </a:pPr>
            <a:r>
              <a:rPr lang="en-US" sz="15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Sumber: Kemenkes RI (Hari Jantung Sedunia 2024; pernyataan Sep 2026); Survei Kesehatan Indonesia 2023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534505" y="4771368"/>
            <a:ext cx="4958963" cy="3874018"/>
          </a:xfrm>
          <a:custGeom>
            <a:avLst/>
            <a:gdLst/>
            <a:ahLst/>
            <a:cxnLst/>
            <a:rect r="r" b="b" t="t" l="l"/>
            <a:pathLst>
              <a:path h="3874018" w="4958963">
                <a:moveTo>
                  <a:pt x="4958963" y="0"/>
                </a:moveTo>
                <a:lnTo>
                  <a:pt x="0" y="0"/>
                </a:lnTo>
                <a:lnTo>
                  <a:pt x="0" y="3874017"/>
                </a:lnTo>
                <a:lnTo>
                  <a:pt x="4958963" y="3874017"/>
                </a:lnTo>
                <a:lnTo>
                  <a:pt x="49589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4634913" y="4771368"/>
            <a:ext cx="4958963" cy="3874018"/>
          </a:xfrm>
          <a:custGeom>
            <a:avLst/>
            <a:gdLst/>
            <a:ahLst/>
            <a:cxnLst/>
            <a:rect r="r" b="b" t="t" l="l"/>
            <a:pathLst>
              <a:path h="3874018" w="4958963">
                <a:moveTo>
                  <a:pt x="4958962" y="0"/>
                </a:moveTo>
                <a:lnTo>
                  <a:pt x="0" y="0"/>
                </a:lnTo>
                <a:lnTo>
                  <a:pt x="0" y="3874017"/>
                </a:lnTo>
                <a:lnTo>
                  <a:pt x="4958962" y="3874017"/>
                </a:lnTo>
                <a:lnTo>
                  <a:pt x="49589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8735330" y="4771368"/>
            <a:ext cx="4958963" cy="3874018"/>
          </a:xfrm>
          <a:custGeom>
            <a:avLst/>
            <a:gdLst/>
            <a:ahLst/>
            <a:cxnLst/>
            <a:rect r="r" b="b" t="t" l="l"/>
            <a:pathLst>
              <a:path h="3874018" w="4958963">
                <a:moveTo>
                  <a:pt x="4958963" y="0"/>
                </a:moveTo>
                <a:lnTo>
                  <a:pt x="0" y="0"/>
                </a:lnTo>
                <a:lnTo>
                  <a:pt x="0" y="3874017"/>
                </a:lnTo>
                <a:lnTo>
                  <a:pt x="4958963" y="3874017"/>
                </a:lnTo>
                <a:lnTo>
                  <a:pt x="49589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5400000">
            <a:off x="12835738" y="4771368"/>
            <a:ext cx="4958963" cy="3874018"/>
          </a:xfrm>
          <a:custGeom>
            <a:avLst/>
            <a:gdLst/>
            <a:ahLst/>
            <a:cxnLst/>
            <a:rect r="r" b="b" t="t" l="l"/>
            <a:pathLst>
              <a:path h="3874018" w="4958963">
                <a:moveTo>
                  <a:pt x="4958962" y="0"/>
                </a:moveTo>
                <a:lnTo>
                  <a:pt x="0" y="0"/>
                </a:lnTo>
                <a:lnTo>
                  <a:pt x="0" y="3874017"/>
                </a:lnTo>
                <a:lnTo>
                  <a:pt x="4958962" y="3874017"/>
                </a:lnTo>
                <a:lnTo>
                  <a:pt x="49589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98481" y="30861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98899" y="30861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99306" y="30861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399724" y="30861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442880">
            <a:off x="14284385" y="-74324"/>
            <a:ext cx="1862052" cy="1921440"/>
          </a:xfrm>
          <a:custGeom>
            <a:avLst/>
            <a:gdLst/>
            <a:ahLst/>
            <a:cxnLst/>
            <a:rect r="r" b="b" t="t" l="l"/>
            <a:pathLst>
              <a:path h="1921440" w="1862052">
                <a:moveTo>
                  <a:pt x="0" y="0"/>
                </a:moveTo>
                <a:lnTo>
                  <a:pt x="1862052" y="0"/>
                </a:lnTo>
                <a:lnTo>
                  <a:pt x="1862052" y="1921441"/>
                </a:lnTo>
                <a:lnTo>
                  <a:pt x="0" y="1921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84" r="0" b="-18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000125"/>
            <a:ext cx="13716000" cy="197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8"/>
              </a:lnSpc>
            </a:pP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PANTAUJANTUNG: DARI SENSOR</a:t>
            </a:r>
          </a:p>
          <a:p>
            <a:pPr algn="l">
              <a:lnSpc>
                <a:spcPts val="6998"/>
              </a:lnSpc>
            </a:pP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 SARAN YANG DIPAHAMI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5373" y="5204203"/>
            <a:ext cx="3417237" cy="53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Ukur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05780" y="5204203"/>
            <a:ext cx="3417237" cy="53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Simpan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06198" y="5391531"/>
            <a:ext cx="3417237" cy="53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Analisis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06605" y="5391531"/>
            <a:ext cx="3417237" cy="53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Tanya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3370" y="6353175"/>
            <a:ext cx="3246120" cy="242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Jari diletakkan di sensor MAX30102 yang terhubung ke ESP32. Hasil: detak jantung dan kadar oksigen.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33777" y="6353175"/>
            <a:ext cx="3246120" cy="242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 dikirim aman ke web Flask dan dicatat di Google Sheets sebagai riwayat pasien.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34195" y="6353175"/>
            <a:ext cx="3246120" cy="242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Asisten AI menilai sesuai umur: Normal, Waspada, atau Tinggi, lengkap dengan catatan singkat.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34602" y="6353175"/>
            <a:ext cx="3246120" cy="242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Pengguna bertanya lewat chat. Jawaban berbasis riwayat ukur, dalam bahasa sehari-hari.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103120" y="3108960"/>
            <a:ext cx="2011680" cy="2011680"/>
            <a:chOff x="0" y="0"/>
            <a:chExt cx="2682240" cy="2682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2682240" cy="2663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999"/>
                </a:lnSpc>
              </a:pPr>
              <a:r>
                <a:rPr lang="en-US" sz="6000" b="true">
                  <a:solidFill>
                    <a:srgbClr val="2E6DB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17920" y="3108960"/>
            <a:ext cx="2011680" cy="2011680"/>
            <a:chOff x="0" y="0"/>
            <a:chExt cx="2682240" cy="2682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2682240" cy="2663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999"/>
                </a:lnSpc>
              </a:pPr>
              <a:r>
                <a:rPr lang="en-US" sz="6000" b="true">
                  <a:solidFill>
                    <a:srgbClr val="2E6DB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332720" y="3108960"/>
            <a:ext cx="2011680" cy="2011680"/>
            <a:chOff x="0" y="0"/>
            <a:chExt cx="2682240" cy="2682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2682240" cy="2663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999"/>
                </a:lnSpc>
              </a:pPr>
              <a:r>
                <a:rPr lang="en-US" sz="6000" b="true">
                  <a:solidFill>
                    <a:srgbClr val="2E6DB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356080" y="3108960"/>
            <a:ext cx="2011680" cy="2011680"/>
            <a:chOff x="0" y="0"/>
            <a:chExt cx="2682240" cy="2682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2682240" cy="2663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999"/>
                </a:lnSpc>
              </a:pPr>
              <a:r>
                <a:rPr lang="en-US" sz="6000" b="true">
                  <a:solidFill>
                    <a:srgbClr val="2E6DB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78722" y="9302158"/>
            <a:ext cx="160020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8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Normal = baik   ·   Waspada = perlu diperhatikan   ·   Tinggi = segera periksa ke tenaga kesehatan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50403" y="9753600"/>
            <a:ext cx="16002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17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Alat pemantauan dan edukasi, bukan pengganti diagnosis tenaga kesehatan.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740613"/>
            <a:ext cx="2936615" cy="3517687"/>
          </a:xfrm>
          <a:custGeom>
            <a:avLst/>
            <a:gdLst/>
            <a:ahLst/>
            <a:cxnLst/>
            <a:rect r="r" b="b" t="t" l="l"/>
            <a:pathLst>
              <a:path h="3517687" w="2936615">
                <a:moveTo>
                  <a:pt x="0" y="0"/>
                </a:moveTo>
                <a:lnTo>
                  <a:pt x="2936615" y="0"/>
                </a:lnTo>
                <a:lnTo>
                  <a:pt x="2936615" y="3517687"/>
                </a:lnTo>
                <a:lnTo>
                  <a:pt x="0" y="35176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" t="0" r="-1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41066" y="5740613"/>
            <a:ext cx="2936615" cy="3517687"/>
          </a:xfrm>
          <a:custGeom>
            <a:avLst/>
            <a:gdLst/>
            <a:ahLst/>
            <a:cxnLst/>
            <a:rect r="r" b="b" t="t" l="l"/>
            <a:pathLst>
              <a:path h="3517687" w="2936615">
                <a:moveTo>
                  <a:pt x="0" y="0"/>
                </a:moveTo>
                <a:lnTo>
                  <a:pt x="2936615" y="0"/>
                </a:lnTo>
                <a:lnTo>
                  <a:pt x="2936615" y="3517687"/>
                </a:lnTo>
                <a:lnTo>
                  <a:pt x="0" y="35176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" t="0" r="-1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53423" y="5740613"/>
            <a:ext cx="2936615" cy="3517687"/>
          </a:xfrm>
          <a:custGeom>
            <a:avLst/>
            <a:gdLst/>
            <a:ahLst/>
            <a:cxnLst/>
            <a:rect r="r" b="b" t="t" l="l"/>
            <a:pathLst>
              <a:path h="3517687" w="2936615">
                <a:moveTo>
                  <a:pt x="0" y="0"/>
                </a:moveTo>
                <a:lnTo>
                  <a:pt x="2936615" y="0"/>
                </a:lnTo>
                <a:lnTo>
                  <a:pt x="2936615" y="3517687"/>
                </a:lnTo>
                <a:lnTo>
                  <a:pt x="0" y="35176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" t="0" r="-1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65790" y="5740613"/>
            <a:ext cx="2936615" cy="3517687"/>
          </a:xfrm>
          <a:custGeom>
            <a:avLst/>
            <a:gdLst/>
            <a:ahLst/>
            <a:cxnLst/>
            <a:rect r="r" b="b" t="t" l="l"/>
            <a:pathLst>
              <a:path h="3517687" w="2936615">
                <a:moveTo>
                  <a:pt x="0" y="0"/>
                </a:moveTo>
                <a:lnTo>
                  <a:pt x="2936614" y="0"/>
                </a:lnTo>
                <a:lnTo>
                  <a:pt x="2936614" y="3517687"/>
                </a:lnTo>
                <a:lnTo>
                  <a:pt x="0" y="35176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" t="0" r="-1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78146" y="5740613"/>
            <a:ext cx="2936615" cy="3517687"/>
          </a:xfrm>
          <a:custGeom>
            <a:avLst/>
            <a:gdLst/>
            <a:ahLst/>
            <a:cxnLst/>
            <a:rect r="r" b="b" t="t" l="l"/>
            <a:pathLst>
              <a:path h="3517687" w="2936615">
                <a:moveTo>
                  <a:pt x="0" y="0"/>
                </a:moveTo>
                <a:lnTo>
                  <a:pt x="2936615" y="0"/>
                </a:lnTo>
                <a:lnTo>
                  <a:pt x="2936615" y="3517687"/>
                </a:lnTo>
                <a:lnTo>
                  <a:pt x="0" y="35176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" t="0" r="-19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38520">
            <a:off x="-883291" y="3011443"/>
            <a:ext cx="2492664" cy="2438276"/>
          </a:xfrm>
          <a:custGeom>
            <a:avLst/>
            <a:gdLst/>
            <a:ahLst/>
            <a:cxnLst/>
            <a:rect r="r" b="b" t="t" l="l"/>
            <a:pathLst>
              <a:path h="2438276" w="2492664">
                <a:moveTo>
                  <a:pt x="0" y="0"/>
                </a:moveTo>
                <a:lnTo>
                  <a:pt x="2492664" y="0"/>
                </a:lnTo>
                <a:lnTo>
                  <a:pt x="2492664" y="2438276"/>
                </a:lnTo>
                <a:lnTo>
                  <a:pt x="0" y="2438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34" r="0" b="-33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233780">
            <a:off x="6548714" y="13202"/>
            <a:ext cx="1763363" cy="1301677"/>
          </a:xfrm>
          <a:custGeom>
            <a:avLst/>
            <a:gdLst/>
            <a:ahLst/>
            <a:cxnLst/>
            <a:rect r="r" b="b" t="t" l="l"/>
            <a:pathLst>
              <a:path h="1301677" w="1763363">
                <a:moveTo>
                  <a:pt x="0" y="0"/>
                </a:moveTo>
                <a:lnTo>
                  <a:pt x="1763363" y="0"/>
                </a:lnTo>
                <a:lnTo>
                  <a:pt x="1763363" y="1301677"/>
                </a:lnTo>
                <a:lnTo>
                  <a:pt x="0" y="13016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10" t="0" r="-10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14400"/>
            <a:ext cx="7315200" cy="206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36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CARA KERJA: ALAT, WEB,</a:t>
            </a:r>
          </a:p>
          <a:p>
            <a:pPr algn="l">
              <a:lnSpc>
                <a:spcPts val="6999"/>
              </a:lnSpc>
            </a:pPr>
            <a:r>
              <a:rPr lang="en-US" sz="36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DAN ASISTEN AI</a:t>
            </a:r>
          </a:p>
          <a:p>
            <a:pPr algn="l">
              <a:lnSpc>
                <a:spcPts val="6999"/>
              </a:lnSpc>
            </a:pPr>
            <a:r>
              <a:rPr lang="en-US" sz="36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TERHUBUNG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29600" y="1042035"/>
            <a:ext cx="8961120" cy="352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49"/>
              </a:lnSpc>
            </a:pPr>
            <a:r>
              <a:rPr lang="en-US" sz="1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Warga/kader memakai dashboard dan chat di browser. Web Flask jadi penghubung dan pengecek data: menerima data dari alat (dengan kunci) lalu memanggil flow. Di IBM Langflow (flow “hackathon”), penyaring pesan mencegah pesan berbahaya sebelum asisten AI menganalisis dan menjawab, dibantu Composio untuk baca/tulis Google Sheets.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7280" y="6322695"/>
            <a:ext cx="2743200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5000" b="true">
                <a:solidFill>
                  <a:srgbClr val="1B2B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</a:t>
            </a:r>
          </a:p>
          <a:p>
            <a:pPr algn="ctr">
              <a:lnSpc>
                <a:spcPts val="4899"/>
              </a:lnSpc>
            </a:pPr>
            <a:r>
              <a:rPr lang="en-US" sz="2600" b="true">
                <a:solidFill>
                  <a:srgbClr val="1B2B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MAX30102</a:t>
            </a:r>
          </a:p>
          <a:p>
            <a:pPr algn="ctr">
              <a:lnSpc>
                <a:spcPts val="4899"/>
              </a:lnSpc>
            </a:pPr>
            <a:r>
              <a:rPr lang="en-US" sz="2100">
                <a:solidFill>
                  <a:srgbClr val="1B2B4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sensor detak &amp; oksigen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89120" y="6322695"/>
            <a:ext cx="2743200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5000" b="true">
                <a:solidFill>
                  <a:srgbClr val="1B2B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</a:t>
            </a:r>
          </a:p>
          <a:p>
            <a:pPr algn="ctr">
              <a:lnSpc>
                <a:spcPts val="4899"/>
              </a:lnSpc>
            </a:pPr>
            <a:r>
              <a:rPr lang="en-US" sz="2600" b="true">
                <a:solidFill>
                  <a:srgbClr val="1B2B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ESP32</a:t>
            </a:r>
          </a:p>
          <a:p>
            <a:pPr algn="ctr">
              <a:lnSpc>
                <a:spcPts val="4899"/>
              </a:lnSpc>
            </a:pPr>
            <a:r>
              <a:rPr lang="en-US" sz="2100">
                <a:solidFill>
                  <a:srgbClr val="1B2B4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pengirim lewat Wi-Fi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72400" y="6322695"/>
            <a:ext cx="2743200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5000" b="true">
                <a:solidFill>
                  <a:srgbClr val="1B2B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</a:t>
            </a:r>
          </a:p>
          <a:p>
            <a:pPr algn="ctr">
              <a:lnSpc>
                <a:spcPts val="4899"/>
              </a:lnSpc>
            </a:pPr>
            <a:r>
              <a:rPr lang="en-US" sz="2600" b="true">
                <a:solidFill>
                  <a:srgbClr val="1B2B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Web Flask</a:t>
            </a:r>
          </a:p>
          <a:p>
            <a:pPr algn="ctr">
              <a:lnSpc>
                <a:spcPts val="4899"/>
              </a:lnSpc>
            </a:pPr>
            <a:r>
              <a:rPr lang="en-US" sz="2100">
                <a:solidFill>
                  <a:srgbClr val="1B2B4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penghubung &amp; pengecek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64240" y="6322695"/>
            <a:ext cx="2743200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5000" b="true">
                <a:solidFill>
                  <a:srgbClr val="1B2B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4</a:t>
            </a:r>
          </a:p>
          <a:p>
            <a:pPr algn="ctr">
              <a:lnSpc>
                <a:spcPts val="4899"/>
              </a:lnSpc>
            </a:pPr>
            <a:r>
              <a:rPr lang="en-US" sz="2600" b="true">
                <a:solidFill>
                  <a:srgbClr val="1B2B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IBM Langflow</a:t>
            </a:r>
          </a:p>
          <a:p>
            <a:pPr algn="ctr">
              <a:lnSpc>
                <a:spcPts val="4899"/>
              </a:lnSpc>
            </a:pPr>
            <a:r>
              <a:rPr lang="en-US" sz="2100">
                <a:solidFill>
                  <a:srgbClr val="1B2B4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penyaring + asisten AI + Composio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56080" y="6322695"/>
            <a:ext cx="2743200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5000" b="true">
                <a:solidFill>
                  <a:srgbClr val="1B2B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5</a:t>
            </a:r>
          </a:p>
          <a:p>
            <a:pPr algn="ctr">
              <a:lnSpc>
                <a:spcPts val="4899"/>
              </a:lnSpc>
            </a:pPr>
            <a:r>
              <a:rPr lang="en-US" sz="2600" b="true">
                <a:solidFill>
                  <a:srgbClr val="1B2B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Google Sheets</a:t>
            </a:r>
          </a:p>
          <a:p>
            <a:pPr algn="ctr">
              <a:lnSpc>
                <a:spcPts val="4899"/>
              </a:lnSpc>
            </a:pPr>
            <a:r>
              <a:rPr lang="en-US" sz="2100">
                <a:solidFill>
                  <a:srgbClr val="1B2B4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pasien · sensor · chat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5840" y="9235440"/>
            <a:ext cx="160020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Tanpa alat sensor? Mode demo menyimulasikan hasil ukur, jadi seluruh alur tetap bisa diperlihatkan.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03000">
            <a:off x="8646404" y="3578628"/>
            <a:ext cx="10978039" cy="10119760"/>
          </a:xfrm>
          <a:custGeom>
            <a:avLst/>
            <a:gdLst/>
            <a:ahLst/>
            <a:cxnLst/>
            <a:rect r="r" b="b" t="t" l="l"/>
            <a:pathLst>
              <a:path h="10119760" w="10978039">
                <a:moveTo>
                  <a:pt x="0" y="0"/>
                </a:moveTo>
                <a:lnTo>
                  <a:pt x="10978039" y="0"/>
                </a:lnTo>
                <a:lnTo>
                  <a:pt x="10978039" y="10119760"/>
                </a:lnTo>
                <a:lnTo>
                  <a:pt x="0" y="10119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3" r="0" b="-5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0120741" y="-2081679"/>
            <a:ext cx="10978039" cy="10119760"/>
          </a:xfrm>
          <a:custGeom>
            <a:avLst/>
            <a:gdLst/>
            <a:ahLst/>
            <a:cxnLst/>
            <a:rect r="r" b="b" t="t" l="l"/>
            <a:pathLst>
              <a:path h="10119760" w="10978039">
                <a:moveTo>
                  <a:pt x="0" y="0"/>
                </a:moveTo>
                <a:lnTo>
                  <a:pt x="10978039" y="0"/>
                </a:lnTo>
                <a:lnTo>
                  <a:pt x="10978039" y="10119760"/>
                </a:lnTo>
                <a:lnTo>
                  <a:pt x="0" y="10119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3" r="0" b="-5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23678" y="1028700"/>
            <a:ext cx="7335622" cy="9606172"/>
          </a:xfrm>
          <a:custGeom>
            <a:avLst/>
            <a:gdLst/>
            <a:ahLst/>
            <a:cxnLst/>
            <a:rect r="r" b="b" t="t" l="l"/>
            <a:pathLst>
              <a:path h="9606172" w="7335622">
                <a:moveTo>
                  <a:pt x="0" y="0"/>
                </a:moveTo>
                <a:lnTo>
                  <a:pt x="7335622" y="0"/>
                </a:lnTo>
                <a:lnTo>
                  <a:pt x="7335622" y="9606172"/>
                </a:lnTo>
                <a:lnTo>
                  <a:pt x="0" y="9606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1" t="0" r="-3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61097" y="3361706"/>
            <a:ext cx="2948654" cy="2948654"/>
          </a:xfrm>
          <a:custGeom>
            <a:avLst/>
            <a:gdLst/>
            <a:ahLst/>
            <a:cxnLst/>
            <a:rect r="r" b="b" t="t" l="l"/>
            <a:pathLst>
              <a:path h="2948654" w="2948654">
                <a:moveTo>
                  <a:pt x="0" y="0"/>
                </a:moveTo>
                <a:lnTo>
                  <a:pt x="2948654" y="0"/>
                </a:lnTo>
                <a:lnTo>
                  <a:pt x="2948654" y="2948654"/>
                </a:lnTo>
                <a:lnTo>
                  <a:pt x="0" y="29486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34530" y="4218289"/>
            <a:ext cx="1201788" cy="1235488"/>
          </a:xfrm>
          <a:custGeom>
            <a:avLst/>
            <a:gdLst/>
            <a:ahLst/>
            <a:cxnLst/>
            <a:rect r="r" b="b" t="t" l="l"/>
            <a:pathLst>
              <a:path h="1235488" w="1201788">
                <a:moveTo>
                  <a:pt x="0" y="0"/>
                </a:moveTo>
                <a:lnTo>
                  <a:pt x="1201788" y="0"/>
                </a:lnTo>
                <a:lnTo>
                  <a:pt x="1201788" y="1235488"/>
                </a:lnTo>
                <a:lnTo>
                  <a:pt x="0" y="12354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68" r="0" b="-16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736328" y="3590315"/>
            <a:ext cx="4150500" cy="3106360"/>
          </a:xfrm>
          <a:custGeom>
            <a:avLst/>
            <a:gdLst/>
            <a:ahLst/>
            <a:cxnLst/>
            <a:rect r="r" b="b" t="t" l="l"/>
            <a:pathLst>
              <a:path h="3106360" w="4150500">
                <a:moveTo>
                  <a:pt x="0" y="0"/>
                </a:moveTo>
                <a:lnTo>
                  <a:pt x="4150499" y="0"/>
                </a:lnTo>
                <a:lnTo>
                  <a:pt x="4150499" y="3106360"/>
                </a:lnTo>
                <a:lnTo>
                  <a:pt x="0" y="31063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04" r="0" b="-10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242660">
            <a:off x="7543215" y="7369861"/>
            <a:ext cx="2142058" cy="2982611"/>
          </a:xfrm>
          <a:custGeom>
            <a:avLst/>
            <a:gdLst/>
            <a:ahLst/>
            <a:cxnLst/>
            <a:rect r="r" b="b" t="t" l="l"/>
            <a:pathLst>
              <a:path h="2982611" w="2142058">
                <a:moveTo>
                  <a:pt x="0" y="0"/>
                </a:moveTo>
                <a:lnTo>
                  <a:pt x="2142058" y="0"/>
                </a:lnTo>
                <a:lnTo>
                  <a:pt x="2142058" y="2982611"/>
                </a:lnTo>
                <a:lnTo>
                  <a:pt x="0" y="29826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330" t="0" r="-33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881480">
            <a:off x="9728102" y="-151276"/>
            <a:ext cx="1643558" cy="1652578"/>
          </a:xfrm>
          <a:custGeom>
            <a:avLst/>
            <a:gdLst/>
            <a:ahLst/>
            <a:cxnLst/>
            <a:rect r="r" b="b" t="t" l="l"/>
            <a:pathLst>
              <a:path h="1652578" w="1643558">
                <a:moveTo>
                  <a:pt x="0" y="0"/>
                </a:moveTo>
                <a:lnTo>
                  <a:pt x="1643557" y="0"/>
                </a:lnTo>
                <a:lnTo>
                  <a:pt x="1643557" y="1652578"/>
                </a:lnTo>
                <a:lnTo>
                  <a:pt x="0" y="16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14" r="0" b="-14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4644" y="952500"/>
            <a:ext cx="10515600" cy="2025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8"/>
              </a:lnSpc>
            </a:pPr>
            <a:r>
              <a:rPr lang="en-US" sz="3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ASISTEN AI: ANGKA SENSOR</a:t>
            </a:r>
          </a:p>
          <a:p>
            <a:pPr algn="l">
              <a:lnSpc>
                <a:spcPts val="6998"/>
              </a:lnSpc>
            </a:pPr>
            <a:r>
              <a:rPr lang="en-US" sz="3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JADI STATUS DAN SARAN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4644" y="2797226"/>
            <a:ext cx="8229600" cy="459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1299" indent="-80433" lvl="2">
              <a:lnSpc>
                <a:spcPts val="4117"/>
              </a:lnSpc>
              <a:buFont typeface="Arial"/>
              <a:buChar char="⚬"/>
            </a:pPr>
            <a:r>
              <a:rPr lang="en-US" b="true" sz="19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Normal: </a:t>
            </a:r>
            <a:r>
              <a:rPr lang="en-US" sz="1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detak 60–100 kali/menit dan oksigen 95–100% (usia 13 tahun ke atas)</a:t>
            </a:r>
          </a:p>
          <a:p>
            <a:pPr algn="l" marL="241299" indent="-80433" lvl="2">
              <a:lnSpc>
                <a:spcPts val="4117"/>
              </a:lnSpc>
              <a:buFont typeface="Arial"/>
              <a:buChar char="⚬"/>
            </a:pPr>
            <a:r>
              <a:rPr lang="en-US" b="true" sz="19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Waspada: </a:t>
            </a:r>
            <a:r>
              <a:rPr lang="en-US" sz="1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detak di luar rentang normal, atau oksigen 90–94%</a:t>
            </a:r>
          </a:p>
          <a:p>
            <a:pPr algn="l" marL="241299" indent="-80433" lvl="2">
              <a:lnSpc>
                <a:spcPts val="4117"/>
              </a:lnSpc>
              <a:buFont typeface="Arial"/>
              <a:buChar char="⚬"/>
            </a:pPr>
            <a:r>
              <a:rPr lang="en-US" b="true" sz="19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Tinggi: </a:t>
            </a:r>
            <a:r>
              <a:rPr lang="en-US" sz="1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oksigen di bawah 90%, atau detak di atas 130 / di bawah 30</a:t>
            </a:r>
          </a:p>
          <a:p>
            <a:pPr algn="l" marL="241299" indent="-80433" lvl="2">
              <a:lnSpc>
                <a:spcPts val="4117"/>
              </a:lnSpc>
              <a:buFont typeface="Arial"/>
              <a:buChar char="⚬"/>
            </a:pPr>
            <a:r>
              <a:rPr lang="en-US" b="true" sz="19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Mode Analisis: </a:t>
            </a:r>
            <a:r>
              <a:rPr lang="en-US" sz="1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menerima umur, detak, dan oksigen; menentukan status sesuai umur, lalu menulis status dan catatan awam ke Google Sheets lewat Composio</a:t>
            </a:r>
          </a:p>
          <a:p>
            <a:pPr algn="l" marL="241299" indent="-80433" lvl="2">
              <a:lnSpc>
                <a:spcPts val="4117"/>
              </a:lnSpc>
              <a:buFont typeface="Arial"/>
              <a:buChar char="⚬"/>
            </a:pPr>
            <a:r>
              <a:rPr lang="en-US" b="true" sz="19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Mode Chat: </a:t>
            </a:r>
            <a:r>
              <a:rPr lang="en-US" sz="1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menjawab dari riwayat 3 pengukuran, data 48 jam, dan ringkasan 7/30 hari; hanya membaca, tidak mengubah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5119" y="7725151"/>
            <a:ext cx="7053801" cy="206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16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Anak-anak memakai rentang sesuai umur. Sumber: AHA, Mayo Clinic, StatPearls, Kemenkes.</a:t>
            </a:r>
          </a:p>
          <a:p>
            <a:pPr algn="l">
              <a:lnSpc>
                <a:spcPts val="4249"/>
              </a:lnSpc>
            </a:pPr>
            <a:r>
              <a:rPr lang="en-US" sz="16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Penyaring sebelum asisten AI: data pribadi · kata sandi · upaya menipu AI · kode berbahaya · konten kasar. Jika ragu, pesan diblokir.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42979" y="1876787"/>
            <a:ext cx="8957539" cy="8754218"/>
          </a:xfrm>
          <a:custGeom>
            <a:avLst/>
            <a:gdLst/>
            <a:ahLst/>
            <a:cxnLst/>
            <a:rect r="r" b="b" t="t" l="l"/>
            <a:pathLst>
              <a:path h="8754218" w="8957539">
                <a:moveTo>
                  <a:pt x="0" y="0"/>
                </a:moveTo>
                <a:lnTo>
                  <a:pt x="8957539" y="0"/>
                </a:lnTo>
                <a:lnTo>
                  <a:pt x="8957539" y="8754218"/>
                </a:lnTo>
                <a:lnTo>
                  <a:pt x="0" y="8754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9" r="0" b="-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89990" y="3363306"/>
            <a:ext cx="826665" cy="1177900"/>
          </a:xfrm>
          <a:custGeom>
            <a:avLst/>
            <a:gdLst/>
            <a:ahLst/>
            <a:cxnLst/>
            <a:rect r="r" b="b" t="t" l="l"/>
            <a:pathLst>
              <a:path h="1177900" w="826665">
                <a:moveTo>
                  <a:pt x="0" y="0"/>
                </a:moveTo>
                <a:lnTo>
                  <a:pt x="826666" y="0"/>
                </a:lnTo>
                <a:lnTo>
                  <a:pt x="826666" y="1177900"/>
                </a:lnTo>
                <a:lnTo>
                  <a:pt x="0" y="1177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4" r="0" b="-14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087380" y="-457105"/>
            <a:ext cx="4776197" cy="4667783"/>
          </a:xfrm>
          <a:custGeom>
            <a:avLst/>
            <a:gdLst/>
            <a:ahLst/>
            <a:cxnLst/>
            <a:rect r="r" b="b" t="t" l="l"/>
            <a:pathLst>
              <a:path h="4667783" w="4776197">
                <a:moveTo>
                  <a:pt x="4776197" y="4667784"/>
                </a:moveTo>
                <a:lnTo>
                  <a:pt x="0" y="4667784"/>
                </a:lnTo>
                <a:lnTo>
                  <a:pt x="0" y="0"/>
                </a:lnTo>
                <a:lnTo>
                  <a:pt x="4776197" y="0"/>
                </a:lnTo>
                <a:lnTo>
                  <a:pt x="4776197" y="46677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0" r="0" b="-4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64754" y="3051515"/>
            <a:ext cx="5816908" cy="1226839"/>
          </a:xfrm>
          <a:custGeom>
            <a:avLst/>
            <a:gdLst/>
            <a:ahLst/>
            <a:cxnLst/>
            <a:rect r="r" b="b" t="t" l="l"/>
            <a:pathLst>
              <a:path h="1226839" w="5816908">
                <a:moveTo>
                  <a:pt x="0" y="0"/>
                </a:moveTo>
                <a:lnTo>
                  <a:pt x="5816908" y="0"/>
                </a:lnTo>
                <a:lnTo>
                  <a:pt x="5816908" y="1226839"/>
                </a:lnTo>
                <a:lnTo>
                  <a:pt x="0" y="1226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11" t="0" r="-11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06111" y="3051515"/>
            <a:ext cx="5816908" cy="1226839"/>
          </a:xfrm>
          <a:custGeom>
            <a:avLst/>
            <a:gdLst/>
            <a:ahLst/>
            <a:cxnLst/>
            <a:rect r="r" b="b" t="t" l="l"/>
            <a:pathLst>
              <a:path h="1226839" w="5816908">
                <a:moveTo>
                  <a:pt x="0" y="0"/>
                </a:moveTo>
                <a:lnTo>
                  <a:pt x="5816908" y="0"/>
                </a:lnTo>
                <a:lnTo>
                  <a:pt x="5816908" y="1226839"/>
                </a:lnTo>
                <a:lnTo>
                  <a:pt x="0" y="1226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11" t="0" r="-111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858400">
            <a:off x="6968728" y="9252280"/>
            <a:ext cx="1519152" cy="1433532"/>
          </a:xfrm>
          <a:custGeom>
            <a:avLst/>
            <a:gdLst/>
            <a:ahLst/>
            <a:cxnLst/>
            <a:rect r="r" b="b" t="t" l="l"/>
            <a:pathLst>
              <a:path h="1433532" w="1519152">
                <a:moveTo>
                  <a:pt x="0" y="0"/>
                </a:moveTo>
                <a:lnTo>
                  <a:pt x="1519152" y="0"/>
                </a:lnTo>
                <a:lnTo>
                  <a:pt x="1519152" y="1433532"/>
                </a:lnTo>
                <a:lnTo>
                  <a:pt x="0" y="14335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5" r="0" b="-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62580">
            <a:off x="13767406" y="-74124"/>
            <a:ext cx="1776270" cy="1676152"/>
          </a:xfrm>
          <a:custGeom>
            <a:avLst/>
            <a:gdLst/>
            <a:ahLst/>
            <a:cxnLst/>
            <a:rect r="r" b="b" t="t" l="l"/>
            <a:pathLst>
              <a:path h="1676152" w="1776270">
                <a:moveTo>
                  <a:pt x="0" y="0"/>
                </a:moveTo>
                <a:lnTo>
                  <a:pt x="1776270" y="0"/>
                </a:lnTo>
                <a:lnTo>
                  <a:pt x="1776270" y="1676153"/>
                </a:lnTo>
                <a:lnTo>
                  <a:pt x="0" y="16761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30" t="0" r="-13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52500"/>
            <a:ext cx="13716000" cy="113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8"/>
              </a:lnSpc>
            </a:pPr>
            <a:r>
              <a:rPr lang="en-US" sz="3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INTEGRASI IBM LANGFLOW DAN IBM BOB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78595" y="3334731"/>
            <a:ext cx="4471940" cy="517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1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IBM BOB: MEMBUAT WEBNYA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62181" y="3334731"/>
            <a:ext cx="5222053" cy="517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1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IBM LANGFLOW: OTAK ASISTEN 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3126" y="4541206"/>
            <a:ext cx="4600394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Dua platform dipakai saling melengkapi: Bob untuk membuat web, Langflow sebagai otak asisten AI.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60720" y="4337685"/>
            <a:ext cx="5212080" cy="517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229235" indent="-114617" lvl="1">
              <a:lnSpc>
                <a:spcPts val="37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Bob membantu menulis server web (Flask) yang menghubungkan alat, data, dan asisten AI</a:t>
            </a:r>
          </a:p>
          <a:p>
            <a:pPr algn="just" marL="229235" indent="-114617" lvl="1">
              <a:lnSpc>
                <a:spcPts val="37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Bob membantu membuat halaman dashboard: detak jantung, oksigen, status, dan grafik</a:t>
            </a:r>
          </a:p>
          <a:p>
            <a:pPr algn="just" marL="229235" indent="-114617" lvl="1">
              <a:lnSpc>
                <a:spcPts val="37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Bob membantu membuat halaman chat untuk bertanya soal hasil ukur</a:t>
            </a:r>
          </a:p>
          <a:p>
            <a:pPr algn="just" marL="229235" indent="-114617" lvl="1">
              <a:lnSpc>
                <a:spcPts val="37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Hasilnya: web yang siap dipakai warga dan kader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0" y="4337685"/>
            <a:ext cx="5760720" cy="517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229235" indent="-114617" lvl="1">
              <a:lnSpc>
                <a:spcPts val="37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Satu alur kerja (flow): pesan masuk → penyaring → asisten AI → jawaban</a:t>
            </a:r>
          </a:p>
          <a:p>
            <a:pPr algn="just" marL="229235" indent="-114617" lvl="1">
              <a:lnSpc>
                <a:spcPts val="37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Asisten AI menyimpan status dan catatan ke Google Sheets lewat Composio</a:t>
            </a:r>
          </a:p>
          <a:p>
            <a:pPr algn="just" marL="229235" indent="-114617" lvl="1">
              <a:lnSpc>
                <a:spcPts val="37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Pesan berbahaya diblokir dan pengguna menerima penolakan yang sopan</a:t>
            </a:r>
          </a:p>
          <a:p>
            <a:pPr algn="just" marL="229235" indent="-114617" lvl="1">
              <a:lnSpc>
                <a:spcPts val="37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Dipanggil oleh web, dan sudah diuji dulu di Playground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0599" y="5475513"/>
            <a:ext cx="19189208" cy="5280069"/>
          </a:xfrm>
          <a:custGeom>
            <a:avLst/>
            <a:gdLst/>
            <a:ahLst/>
            <a:cxnLst/>
            <a:rect r="r" b="b" t="t" l="l"/>
            <a:pathLst>
              <a:path h="5280069" w="19189208">
                <a:moveTo>
                  <a:pt x="0" y="0"/>
                </a:moveTo>
                <a:lnTo>
                  <a:pt x="19189208" y="0"/>
                </a:lnTo>
                <a:lnTo>
                  <a:pt x="19189208" y="5280069"/>
                </a:lnTo>
                <a:lnTo>
                  <a:pt x="0" y="5280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95320">
            <a:off x="15655385" y="8923382"/>
            <a:ext cx="2040969" cy="1365590"/>
          </a:xfrm>
          <a:custGeom>
            <a:avLst/>
            <a:gdLst/>
            <a:ahLst/>
            <a:cxnLst/>
            <a:rect r="r" b="b" t="t" l="l"/>
            <a:pathLst>
              <a:path h="1365590" w="2040969">
                <a:moveTo>
                  <a:pt x="0" y="0"/>
                </a:moveTo>
                <a:lnTo>
                  <a:pt x="2040970" y="0"/>
                </a:lnTo>
                <a:lnTo>
                  <a:pt x="2040970" y="1365590"/>
                </a:lnTo>
                <a:lnTo>
                  <a:pt x="0" y="13655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0" r="0" b="-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477440">
            <a:off x="15921009" y="-41710"/>
            <a:ext cx="2808322" cy="3350495"/>
          </a:xfrm>
          <a:custGeom>
            <a:avLst/>
            <a:gdLst/>
            <a:ahLst/>
            <a:cxnLst/>
            <a:rect r="r" b="b" t="t" l="l"/>
            <a:pathLst>
              <a:path h="3350495" w="2808322">
                <a:moveTo>
                  <a:pt x="0" y="0"/>
                </a:moveTo>
                <a:lnTo>
                  <a:pt x="2808322" y="0"/>
                </a:lnTo>
                <a:lnTo>
                  <a:pt x="2808322" y="3350495"/>
                </a:lnTo>
                <a:lnTo>
                  <a:pt x="0" y="33504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48" r="0" b="-14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404180">
            <a:off x="11965419" y="-138179"/>
            <a:ext cx="1653245" cy="1337624"/>
          </a:xfrm>
          <a:custGeom>
            <a:avLst/>
            <a:gdLst/>
            <a:ahLst/>
            <a:cxnLst/>
            <a:rect r="r" b="b" t="t" l="l"/>
            <a:pathLst>
              <a:path h="1337624" w="1653245">
                <a:moveTo>
                  <a:pt x="0" y="0"/>
                </a:moveTo>
                <a:lnTo>
                  <a:pt x="1653245" y="0"/>
                </a:lnTo>
                <a:lnTo>
                  <a:pt x="1653245" y="1337624"/>
                </a:lnTo>
                <a:lnTo>
                  <a:pt x="0" y="13376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7" r="0" b="-7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627860">
            <a:off x="-702526" y="2542194"/>
            <a:ext cx="1653245" cy="1337624"/>
          </a:xfrm>
          <a:custGeom>
            <a:avLst/>
            <a:gdLst/>
            <a:ahLst/>
            <a:cxnLst/>
            <a:rect r="r" b="b" t="t" l="l"/>
            <a:pathLst>
              <a:path h="1337624" w="1653245">
                <a:moveTo>
                  <a:pt x="0" y="0"/>
                </a:moveTo>
                <a:lnTo>
                  <a:pt x="1653245" y="0"/>
                </a:lnTo>
                <a:lnTo>
                  <a:pt x="1653245" y="1337624"/>
                </a:lnTo>
                <a:lnTo>
                  <a:pt x="0" y="13376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7" r="0" b="-77"/>
            </a:stretch>
          </a:blipFill>
        </p:spPr>
      </p:sp>
      <p:pic>
        <p:nvPicPr>
          <p:cNvPr name="Picture 7" id="7">
            <a:hlinkClick action="ppaction://media"/>
          </p:cNvPr>
          <p:cNvPicPr>
            <a:picLocks noChangeAspect="true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1028700" y="3211006"/>
            <a:ext cx="11450497" cy="6047294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028700" y="241698"/>
            <a:ext cx="14173200" cy="199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DEMO PROTOTIPE: DARI SENSOR</a:t>
            </a:r>
          </a:p>
          <a:p>
            <a:pPr algn="l">
              <a:lnSpc>
                <a:spcPts val="7000"/>
              </a:lnSpc>
            </a:pP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HINGGA PENJELASAN 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28535" y="4278264"/>
            <a:ext cx="4709229" cy="3027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8"/>
              </a:lnSpc>
            </a:pPr>
            <a:r>
              <a:rPr lang="en-US" sz="2199" b="true">
                <a:solidFill>
                  <a:srgbClr val="35353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Skenario demo 60 detik: </a:t>
            </a:r>
            <a:r>
              <a:rPr lang="en-US" sz="2199">
                <a:solidFill>
                  <a:srgbClr val="3535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pilih pasien, Mulai Pengukuran → status muncul + catatan AI → chat: “bagaimana kondisi saya?” → bila gejala nyeri dada → arahan 119/112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630616"/>
            <a:ext cx="1145049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Video Demo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534505" y="4771368"/>
            <a:ext cx="4958963" cy="3874018"/>
          </a:xfrm>
          <a:custGeom>
            <a:avLst/>
            <a:gdLst/>
            <a:ahLst/>
            <a:cxnLst/>
            <a:rect r="r" b="b" t="t" l="l"/>
            <a:pathLst>
              <a:path h="3874018" w="4958963">
                <a:moveTo>
                  <a:pt x="4958963" y="0"/>
                </a:moveTo>
                <a:lnTo>
                  <a:pt x="0" y="0"/>
                </a:lnTo>
                <a:lnTo>
                  <a:pt x="0" y="3874017"/>
                </a:lnTo>
                <a:lnTo>
                  <a:pt x="4958963" y="3874017"/>
                </a:lnTo>
                <a:lnTo>
                  <a:pt x="49589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4634913" y="4771368"/>
            <a:ext cx="4958963" cy="3874018"/>
          </a:xfrm>
          <a:custGeom>
            <a:avLst/>
            <a:gdLst/>
            <a:ahLst/>
            <a:cxnLst/>
            <a:rect r="r" b="b" t="t" l="l"/>
            <a:pathLst>
              <a:path h="3874018" w="4958963">
                <a:moveTo>
                  <a:pt x="4958962" y="0"/>
                </a:moveTo>
                <a:lnTo>
                  <a:pt x="0" y="0"/>
                </a:lnTo>
                <a:lnTo>
                  <a:pt x="0" y="3874017"/>
                </a:lnTo>
                <a:lnTo>
                  <a:pt x="4958962" y="3874017"/>
                </a:lnTo>
                <a:lnTo>
                  <a:pt x="49589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8735330" y="4771368"/>
            <a:ext cx="4958963" cy="3874018"/>
          </a:xfrm>
          <a:custGeom>
            <a:avLst/>
            <a:gdLst/>
            <a:ahLst/>
            <a:cxnLst/>
            <a:rect r="r" b="b" t="t" l="l"/>
            <a:pathLst>
              <a:path h="3874018" w="4958963">
                <a:moveTo>
                  <a:pt x="4958963" y="0"/>
                </a:moveTo>
                <a:lnTo>
                  <a:pt x="0" y="0"/>
                </a:lnTo>
                <a:lnTo>
                  <a:pt x="0" y="3874017"/>
                </a:lnTo>
                <a:lnTo>
                  <a:pt x="4958963" y="3874017"/>
                </a:lnTo>
                <a:lnTo>
                  <a:pt x="49589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5400000">
            <a:off x="12835738" y="4771368"/>
            <a:ext cx="4958963" cy="3874018"/>
          </a:xfrm>
          <a:custGeom>
            <a:avLst/>
            <a:gdLst/>
            <a:ahLst/>
            <a:cxnLst/>
            <a:rect r="r" b="b" t="t" l="l"/>
            <a:pathLst>
              <a:path h="3874018" w="4958963">
                <a:moveTo>
                  <a:pt x="4958962" y="0"/>
                </a:moveTo>
                <a:lnTo>
                  <a:pt x="0" y="0"/>
                </a:lnTo>
                <a:lnTo>
                  <a:pt x="0" y="3874017"/>
                </a:lnTo>
                <a:lnTo>
                  <a:pt x="4958962" y="3874017"/>
                </a:lnTo>
                <a:lnTo>
                  <a:pt x="49589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98481" y="30861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98899" y="30861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99306" y="30861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399724" y="30861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442880">
            <a:off x="14284385" y="-74324"/>
            <a:ext cx="1862052" cy="1921440"/>
          </a:xfrm>
          <a:custGeom>
            <a:avLst/>
            <a:gdLst/>
            <a:ahLst/>
            <a:cxnLst/>
            <a:rect r="r" b="b" t="t" l="l"/>
            <a:pathLst>
              <a:path h="1921440" w="1862052">
                <a:moveTo>
                  <a:pt x="0" y="0"/>
                </a:moveTo>
                <a:lnTo>
                  <a:pt x="1862052" y="0"/>
                </a:lnTo>
                <a:lnTo>
                  <a:pt x="1862052" y="1921441"/>
                </a:lnTo>
                <a:lnTo>
                  <a:pt x="0" y="1921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84" r="0" b="-18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000125"/>
            <a:ext cx="13716000" cy="197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8"/>
              </a:lnSpc>
            </a:pP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DAMPAK: WARGA PAHAM HASILNYA,</a:t>
            </a:r>
          </a:p>
          <a:p>
            <a:pPr algn="l">
              <a:lnSpc>
                <a:spcPts val="6998"/>
              </a:lnSpc>
            </a:pP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KADER PUNYA CATATAN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5373" y="5204203"/>
            <a:ext cx="3417237" cy="53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Warga pelosok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05780" y="5204203"/>
            <a:ext cx="3417237" cy="53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Kader Posyandu / Posbindu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06198" y="5391531"/>
            <a:ext cx="3417237" cy="53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Puskesmas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06605" y="5391531"/>
            <a:ext cx="3417237" cy="53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Ukuran keberhasilan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3845" y="6324600"/>
            <a:ext cx="3246120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17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Tahu arti hasil ukur dengan kata sehari-hari, dan kapan harus ke puskesmas.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33777" y="6324600"/>
            <a:ext cx="3246120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17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Riwayat per pasien tersimpan rapi dan bisa ditanyakan lewat chat.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34195" y="6324600"/>
            <a:ext cx="3246120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17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Menerima rujukan lebih awal untuk kasus berstatus Tinggi.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34602" y="6296025"/>
            <a:ext cx="3246120" cy="2482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80975" indent="-90488" lvl="1">
              <a:lnSpc>
                <a:spcPts val="2800"/>
              </a:lnSpc>
              <a:buFont typeface="Arial"/>
              <a:buChar char="•"/>
            </a:pPr>
            <a:r>
              <a:rPr lang="en-US" b="true" sz="15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&lt; 2 mnt: </a:t>
            </a:r>
            <a:r>
              <a:rPr lang="en-US" sz="15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ukur sampai status muncul (target pilot)</a:t>
            </a:r>
          </a:p>
          <a:p>
            <a:pPr algn="just" marL="180975" indent="-90488" lvl="1">
              <a:lnSpc>
                <a:spcPts val="2800"/>
              </a:lnSpc>
              <a:buFont typeface="Arial"/>
              <a:buChar char="•"/>
            </a:pPr>
            <a:r>
              <a:rPr lang="en-US" b="true" sz="15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100%: </a:t>
            </a:r>
            <a:r>
              <a:rPr lang="en-US" sz="15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status Tinggi disertai anjuran (target pilot)</a:t>
            </a:r>
          </a:p>
          <a:p>
            <a:pPr algn="just" marL="180975" indent="-90488" lvl="1">
              <a:lnSpc>
                <a:spcPts val="2800"/>
              </a:lnSpc>
              <a:buFont typeface="Arial"/>
              <a:buChar char="•"/>
            </a:pPr>
            <a:r>
              <a:rPr lang="en-US" b="true" sz="15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7 / 30 hari: </a:t>
            </a:r>
            <a:r>
              <a:rPr lang="en-US" sz="15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ringkasan tren di chat (sudah ada)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103120" y="3108960"/>
            <a:ext cx="2011680" cy="2011680"/>
            <a:chOff x="0" y="0"/>
            <a:chExt cx="2682240" cy="2682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2682240" cy="2663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999"/>
                </a:lnSpc>
              </a:pPr>
              <a:r>
                <a:rPr lang="en-US" sz="6000" b="true">
                  <a:solidFill>
                    <a:srgbClr val="2E6DB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17920" y="3108960"/>
            <a:ext cx="2011680" cy="2011680"/>
            <a:chOff x="0" y="0"/>
            <a:chExt cx="2682240" cy="2682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2682240" cy="2663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999"/>
                </a:lnSpc>
              </a:pPr>
              <a:r>
                <a:rPr lang="en-US" sz="6000" b="true">
                  <a:solidFill>
                    <a:srgbClr val="2E6DB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332720" y="3108960"/>
            <a:ext cx="2011680" cy="2011680"/>
            <a:chOff x="0" y="0"/>
            <a:chExt cx="2682240" cy="2682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2682240" cy="2663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999"/>
                </a:lnSpc>
              </a:pPr>
              <a:r>
                <a:rPr lang="en-US" sz="6000" b="true">
                  <a:solidFill>
                    <a:srgbClr val="2E6DB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356080" y="3108960"/>
            <a:ext cx="2011680" cy="2011680"/>
            <a:chOff x="0" y="0"/>
            <a:chExt cx="2682240" cy="2682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2682240" cy="2663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999"/>
                </a:lnSpc>
              </a:pPr>
              <a:r>
                <a:rPr lang="en-US" sz="6000" b="true">
                  <a:solidFill>
                    <a:srgbClr val="2E6DB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05840" y="9433560"/>
            <a:ext cx="160020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17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Inklusif: </a:t>
            </a:r>
            <a:r>
              <a:rPr lang="en-US" sz="17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bahasa Indonesia sederhana tanpa istilah teknis, sapaan sesuai umur (Adik / Pak / Bu), perangkat murah, dan mode demo tanpa sensor.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0599" y="5475513"/>
            <a:ext cx="19189208" cy="5280069"/>
          </a:xfrm>
          <a:custGeom>
            <a:avLst/>
            <a:gdLst/>
            <a:ahLst/>
            <a:cxnLst/>
            <a:rect r="r" b="b" t="t" l="l"/>
            <a:pathLst>
              <a:path h="5280069" w="19189208">
                <a:moveTo>
                  <a:pt x="0" y="0"/>
                </a:moveTo>
                <a:lnTo>
                  <a:pt x="19189208" y="0"/>
                </a:lnTo>
                <a:lnTo>
                  <a:pt x="19189208" y="5280069"/>
                </a:lnTo>
                <a:lnTo>
                  <a:pt x="0" y="5280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95320">
            <a:off x="15655385" y="8923382"/>
            <a:ext cx="2040969" cy="1365590"/>
          </a:xfrm>
          <a:custGeom>
            <a:avLst/>
            <a:gdLst/>
            <a:ahLst/>
            <a:cxnLst/>
            <a:rect r="r" b="b" t="t" l="l"/>
            <a:pathLst>
              <a:path h="1365590" w="2040969">
                <a:moveTo>
                  <a:pt x="0" y="0"/>
                </a:moveTo>
                <a:lnTo>
                  <a:pt x="2040970" y="0"/>
                </a:lnTo>
                <a:lnTo>
                  <a:pt x="2040970" y="1365590"/>
                </a:lnTo>
                <a:lnTo>
                  <a:pt x="0" y="13655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0" r="0" b="-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477440">
            <a:off x="15921009" y="-41710"/>
            <a:ext cx="2808322" cy="3350495"/>
          </a:xfrm>
          <a:custGeom>
            <a:avLst/>
            <a:gdLst/>
            <a:ahLst/>
            <a:cxnLst/>
            <a:rect r="r" b="b" t="t" l="l"/>
            <a:pathLst>
              <a:path h="3350495" w="2808322">
                <a:moveTo>
                  <a:pt x="0" y="0"/>
                </a:moveTo>
                <a:lnTo>
                  <a:pt x="2808322" y="0"/>
                </a:lnTo>
                <a:lnTo>
                  <a:pt x="2808322" y="3350495"/>
                </a:lnTo>
                <a:lnTo>
                  <a:pt x="0" y="33504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48" r="0" b="-14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404180">
            <a:off x="11965419" y="-138179"/>
            <a:ext cx="1653245" cy="1337624"/>
          </a:xfrm>
          <a:custGeom>
            <a:avLst/>
            <a:gdLst/>
            <a:ahLst/>
            <a:cxnLst/>
            <a:rect r="r" b="b" t="t" l="l"/>
            <a:pathLst>
              <a:path h="1337624" w="1653245">
                <a:moveTo>
                  <a:pt x="0" y="0"/>
                </a:moveTo>
                <a:lnTo>
                  <a:pt x="1653245" y="0"/>
                </a:lnTo>
                <a:lnTo>
                  <a:pt x="1653245" y="1337624"/>
                </a:lnTo>
                <a:lnTo>
                  <a:pt x="0" y="13376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7" r="0" b="-7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81075"/>
            <a:ext cx="14173200" cy="199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PEMBEDA: LEBIH DARI SEKADAR</a:t>
            </a:r>
          </a:p>
          <a:p>
            <a:pPr algn="l">
              <a:lnSpc>
                <a:spcPts val="7000"/>
              </a:lnSpc>
            </a:pP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CHATBOT KESEHATAN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1627860">
            <a:off x="-702526" y="2542194"/>
            <a:ext cx="1653245" cy="1337624"/>
          </a:xfrm>
          <a:custGeom>
            <a:avLst/>
            <a:gdLst/>
            <a:ahLst/>
            <a:cxnLst/>
            <a:rect r="r" b="b" t="t" l="l"/>
            <a:pathLst>
              <a:path h="1337624" w="1653245">
                <a:moveTo>
                  <a:pt x="0" y="0"/>
                </a:moveTo>
                <a:lnTo>
                  <a:pt x="1653245" y="0"/>
                </a:lnTo>
                <a:lnTo>
                  <a:pt x="1653245" y="1337624"/>
                </a:lnTo>
                <a:lnTo>
                  <a:pt x="0" y="13376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7" r="0" b="-7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8212455"/>
            <a:ext cx="16230600" cy="129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8"/>
              </a:lnSpc>
            </a:pPr>
            <a:r>
              <a:rPr lang="en-US" sz="2400" b="true">
                <a:solidFill>
                  <a:srgbClr val="35353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Pembeda utama: </a:t>
            </a:r>
            <a:r>
              <a:rPr lang="en-US" sz="2400">
                <a:solidFill>
                  <a:srgbClr val="3535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sensor + asisten AI + pengaman, dalam satu alur yang bisa dipakai kader.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005840" y="3017520"/>
          <a:ext cx="16256000" cy="4648200"/>
        </p:xfrm>
        <a:graphic>
          <a:graphicData uri="http://schemas.openxmlformats.org/drawingml/2006/table">
            <a:tbl>
              <a:tblPr/>
              <a:tblGrid>
                <a:gridCol w="4566292"/>
                <a:gridCol w="3835685"/>
                <a:gridCol w="4018337"/>
                <a:gridCol w="3835685"/>
              </a:tblGrid>
              <a:tr h="774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Alat ukur biasa / jam pintar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Chatbot kesehatan umum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PantauJantung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</a:tr>
              <a:tr h="774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1B2B4B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Data nyata dari sensor pasien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1B2B4B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Ya, tanpa penjelasan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1B2B4B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Tidak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1B2B4B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Ya, otomatis tersimpan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B"/>
                    </a:solidFill>
                  </a:tcPr>
                </a:tc>
              </a:tr>
              <a:tr h="774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1B2B4B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Penjelasan bahasa awam sesuai umur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1B2B4B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Tidak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1B2B4B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Umum, tidak personal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1B2B4B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Ya, personal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B"/>
                    </a:solidFill>
                  </a:tcPr>
                </a:tc>
              </a:tr>
              <a:tr h="774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1B2B4B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Riwayat dan tren 7/30 hari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1B2B4B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Terbatas di aplikasi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1B2B4B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Tidak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1B2B4B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Ya, bisa ditanya via chat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B"/>
                    </a:solidFill>
                  </a:tcPr>
                </a:tc>
              </a:tr>
              <a:tr h="774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1B2B4B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Pengaman dan arahan saat darurat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1B2B4B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Tidak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1B2B4B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Bervariasi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1B2B4B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Penyaring + arahan 119/112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B"/>
                    </a:solidFill>
                  </a:tcPr>
                </a:tc>
              </a:tr>
              <a:tr h="774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1B2B4B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Cocok untuk kader / pelosok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1B2B4B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Sebagian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1B2B4B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Butuh internet dan paham teknologi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1B2B4B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Dirancang untuk itu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42979" y="1876787"/>
            <a:ext cx="8957539" cy="8754218"/>
          </a:xfrm>
          <a:custGeom>
            <a:avLst/>
            <a:gdLst/>
            <a:ahLst/>
            <a:cxnLst/>
            <a:rect r="r" b="b" t="t" l="l"/>
            <a:pathLst>
              <a:path h="8754218" w="8957539">
                <a:moveTo>
                  <a:pt x="0" y="0"/>
                </a:moveTo>
                <a:lnTo>
                  <a:pt x="8957539" y="0"/>
                </a:lnTo>
                <a:lnTo>
                  <a:pt x="8957539" y="8754218"/>
                </a:lnTo>
                <a:lnTo>
                  <a:pt x="0" y="8754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9" r="0" b="-1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087380" y="-457105"/>
            <a:ext cx="4776197" cy="4667783"/>
          </a:xfrm>
          <a:custGeom>
            <a:avLst/>
            <a:gdLst/>
            <a:ahLst/>
            <a:cxnLst/>
            <a:rect r="r" b="b" t="t" l="l"/>
            <a:pathLst>
              <a:path h="4667783" w="4776197">
                <a:moveTo>
                  <a:pt x="4776197" y="4667784"/>
                </a:moveTo>
                <a:lnTo>
                  <a:pt x="0" y="4667784"/>
                </a:lnTo>
                <a:lnTo>
                  <a:pt x="0" y="0"/>
                </a:lnTo>
                <a:lnTo>
                  <a:pt x="4776197" y="0"/>
                </a:lnTo>
                <a:lnTo>
                  <a:pt x="4776197" y="46677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0" r="0" b="-4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63409" y="1876787"/>
            <a:ext cx="5816908" cy="1226839"/>
          </a:xfrm>
          <a:custGeom>
            <a:avLst/>
            <a:gdLst/>
            <a:ahLst/>
            <a:cxnLst/>
            <a:rect r="r" b="b" t="t" l="l"/>
            <a:pathLst>
              <a:path h="1226839" w="5816908">
                <a:moveTo>
                  <a:pt x="0" y="0"/>
                </a:moveTo>
                <a:lnTo>
                  <a:pt x="5816908" y="0"/>
                </a:lnTo>
                <a:lnTo>
                  <a:pt x="5816908" y="1226839"/>
                </a:lnTo>
                <a:lnTo>
                  <a:pt x="0" y="1226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1" t="0" r="-11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0326" y="3051515"/>
            <a:ext cx="5816908" cy="1226839"/>
          </a:xfrm>
          <a:custGeom>
            <a:avLst/>
            <a:gdLst/>
            <a:ahLst/>
            <a:cxnLst/>
            <a:rect r="r" b="b" t="t" l="l"/>
            <a:pathLst>
              <a:path h="1226839" w="5816908">
                <a:moveTo>
                  <a:pt x="0" y="0"/>
                </a:moveTo>
                <a:lnTo>
                  <a:pt x="5816908" y="0"/>
                </a:lnTo>
                <a:lnTo>
                  <a:pt x="5816908" y="1226839"/>
                </a:lnTo>
                <a:lnTo>
                  <a:pt x="0" y="1226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1" t="0" r="-11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858400">
            <a:off x="6968728" y="9252280"/>
            <a:ext cx="1519152" cy="1433532"/>
          </a:xfrm>
          <a:custGeom>
            <a:avLst/>
            <a:gdLst/>
            <a:ahLst/>
            <a:cxnLst/>
            <a:rect r="r" b="b" t="t" l="l"/>
            <a:pathLst>
              <a:path h="1433532" w="1519152">
                <a:moveTo>
                  <a:pt x="0" y="0"/>
                </a:moveTo>
                <a:lnTo>
                  <a:pt x="1519152" y="0"/>
                </a:lnTo>
                <a:lnTo>
                  <a:pt x="1519152" y="1433532"/>
                </a:lnTo>
                <a:lnTo>
                  <a:pt x="0" y="1433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" r="0" b="-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62580">
            <a:off x="13767406" y="-74124"/>
            <a:ext cx="1776270" cy="1676152"/>
          </a:xfrm>
          <a:custGeom>
            <a:avLst/>
            <a:gdLst/>
            <a:ahLst/>
            <a:cxnLst/>
            <a:rect r="r" b="b" t="t" l="l"/>
            <a:pathLst>
              <a:path h="1676152" w="1776270">
                <a:moveTo>
                  <a:pt x="0" y="0"/>
                </a:moveTo>
                <a:lnTo>
                  <a:pt x="1776270" y="0"/>
                </a:lnTo>
                <a:lnTo>
                  <a:pt x="1776270" y="1676153"/>
                </a:lnTo>
                <a:lnTo>
                  <a:pt x="0" y="16761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30" t="0" r="-13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82905">
            <a:off x="123552" y="2805043"/>
            <a:ext cx="1810296" cy="1719782"/>
          </a:xfrm>
          <a:custGeom>
            <a:avLst/>
            <a:gdLst/>
            <a:ahLst/>
            <a:cxnLst/>
            <a:rect r="r" b="b" t="t" l="l"/>
            <a:pathLst>
              <a:path h="1719782" w="1810296">
                <a:moveTo>
                  <a:pt x="0" y="0"/>
                </a:moveTo>
                <a:lnTo>
                  <a:pt x="1810296" y="0"/>
                </a:lnTo>
                <a:lnTo>
                  <a:pt x="1810296" y="1719782"/>
                </a:lnTo>
                <a:lnTo>
                  <a:pt x="0" y="17197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277297">
            <a:off x="14018763" y="1434035"/>
            <a:ext cx="1728252" cy="1909671"/>
          </a:xfrm>
          <a:custGeom>
            <a:avLst/>
            <a:gdLst/>
            <a:ahLst/>
            <a:cxnLst/>
            <a:rect r="r" b="b" t="t" l="l"/>
            <a:pathLst>
              <a:path h="1909671" w="1728252">
                <a:moveTo>
                  <a:pt x="0" y="0"/>
                </a:moveTo>
                <a:lnTo>
                  <a:pt x="1728253" y="0"/>
                </a:lnTo>
                <a:lnTo>
                  <a:pt x="1728253" y="1909671"/>
                </a:lnTo>
                <a:lnTo>
                  <a:pt x="0" y="19096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952500"/>
            <a:ext cx="13716000" cy="113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8"/>
              </a:lnSpc>
            </a:pPr>
            <a:r>
              <a:rPr lang="en-US" sz="3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BISNIS DAN ROADMAP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99821" y="3363306"/>
            <a:ext cx="4471940" cy="517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1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MODEL BISNIS (RENCANA)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60837" y="2188578"/>
            <a:ext cx="5222053" cy="517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1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ROADMAP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978047"/>
            <a:ext cx="8029394" cy="44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Semua isi di sini adalah rencana, bukan klaim yang sudah berjalan.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0326" y="4339756"/>
            <a:ext cx="6228483" cy="4750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289558" indent="-144779" lvl="1">
              <a:lnSpc>
                <a:spcPts val="4774"/>
              </a:lnSpc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Pelanggan: </a:t>
            </a:r>
            <a:r>
              <a:rPr lang="en-US" sz="2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Puskesmas, Dinas Kesehatan, Posyandu/Posbindu, program kesehatan desa</a:t>
            </a:r>
          </a:p>
          <a:p>
            <a:pPr algn="just" marL="289558" indent="-144779" lvl="1">
              <a:lnSpc>
                <a:spcPts val="4774"/>
              </a:lnSpc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Pendapatan: </a:t>
            </a:r>
            <a:r>
              <a:rPr lang="en-US" sz="2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langganan per puskesmas, penjualan paket alat sensor, laporan sesuai kebutuhan</a:t>
            </a:r>
          </a:p>
          <a:p>
            <a:pPr algn="just" marL="289558" indent="-144779" lvl="1">
              <a:lnSpc>
                <a:spcPts val="4774"/>
              </a:lnSpc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Biaya utama: </a:t>
            </a:r>
            <a:r>
              <a:rPr lang="en-US" sz="2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layanan AI, server, dan alat sensor (ESP32 + MAX30102)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57662" y="3182182"/>
            <a:ext cx="11301210" cy="7018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287580" indent="-143790" lvl="1">
              <a:lnSpc>
                <a:spcPts val="4740"/>
              </a:lnSpc>
              <a:buFont typeface="Arial"/>
              <a:buChar char="•"/>
            </a:pPr>
            <a:r>
              <a:rPr lang="en-US" b="true" sz="2383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Okt – Nov 2026: </a:t>
            </a:r>
            <a:r>
              <a:rPr lang="en-US" sz="238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Prototipe dan integrasi</a:t>
            </a:r>
          </a:p>
          <a:p>
            <a:pPr algn="l" marL="514616" indent="-257308" lvl="1">
              <a:lnSpc>
                <a:spcPts val="4740"/>
              </a:lnSpc>
              <a:buFont typeface="Arial"/>
              <a:buChar char="•"/>
            </a:pPr>
            <a:r>
              <a:rPr lang="en-US" sz="238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Integrasi sensor MAX30102 dan ESP32.</a:t>
            </a:r>
          </a:p>
          <a:p>
            <a:pPr algn="l" marL="514616" indent="-257308" lvl="1">
              <a:lnSpc>
                <a:spcPts val="4742"/>
              </a:lnSpc>
              <a:buFont typeface="Arial"/>
              <a:buChar char="•"/>
            </a:pPr>
            <a:r>
              <a:rPr lang="en-US" sz="238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Dashboard pengukuran, riwayat, serta asisten AI.</a:t>
            </a:r>
          </a:p>
          <a:p>
            <a:pPr algn="just" marL="287580" indent="-143790" lvl="1">
              <a:lnSpc>
                <a:spcPts val="4740"/>
              </a:lnSpc>
              <a:buFont typeface="Arial"/>
              <a:buChar char="•"/>
            </a:pPr>
            <a:r>
              <a:rPr lang="en-US" b="true" sz="2383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Jan 2027: </a:t>
            </a:r>
            <a:r>
              <a:rPr lang="en-US" sz="238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Evaluasi dan validasi</a:t>
            </a:r>
          </a:p>
          <a:p>
            <a:pPr algn="l" marL="514616" indent="-257308" lvl="1">
              <a:lnSpc>
                <a:spcPts val="4740"/>
              </a:lnSpc>
              <a:buFont typeface="Arial"/>
              <a:buChar char="•"/>
            </a:pPr>
            <a:r>
              <a:rPr lang="en-US" sz="238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Mengumpulkan masukan dari mentor dan calon pengguna.</a:t>
            </a:r>
          </a:p>
          <a:p>
            <a:pPr algn="l" marL="514616" indent="-257308" lvl="1">
              <a:lnSpc>
                <a:spcPts val="4742"/>
              </a:lnSpc>
              <a:buFont typeface="Arial"/>
              <a:buChar char="•"/>
            </a:pPr>
            <a:r>
              <a:rPr lang="en-US" sz="238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Merencanakan pengujian pembacaan sensor.</a:t>
            </a:r>
          </a:p>
          <a:p>
            <a:pPr algn="just" marL="287580" indent="-143790" lvl="1">
              <a:lnSpc>
                <a:spcPts val="4740"/>
              </a:lnSpc>
              <a:buFont typeface="Arial"/>
              <a:buChar char="•"/>
            </a:pPr>
            <a:r>
              <a:rPr lang="en-US" b="true" sz="2383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Jan–Jun 2027</a:t>
            </a:r>
            <a:r>
              <a:rPr lang="en-US" sz="238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Target uji coba di Posbindu/Puskesmas </a:t>
            </a:r>
          </a:p>
          <a:p>
            <a:pPr algn="l" marL="514616" indent="-257308" lvl="1">
              <a:lnSpc>
                <a:spcPts val="4740"/>
              </a:lnSpc>
              <a:buFont typeface="Arial"/>
              <a:buChar char="•"/>
            </a:pPr>
            <a:r>
              <a:rPr lang="en-US" sz="238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Uji coba terbatas bersama Posbindu atau Puskesmas.</a:t>
            </a:r>
          </a:p>
          <a:p>
            <a:pPr algn="l" marL="514616" indent="-257308" lvl="1">
              <a:lnSpc>
                <a:spcPts val="4742"/>
              </a:lnSpc>
              <a:buFont typeface="Arial"/>
              <a:buChar char="•"/>
            </a:pPr>
            <a:r>
              <a:rPr lang="en-US" sz="238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Evaluasi kemudahan penggunaan oleh kader.</a:t>
            </a:r>
          </a:p>
          <a:p>
            <a:pPr algn="just" marL="287580" indent="-143790" lvl="1">
              <a:lnSpc>
                <a:spcPts val="4740"/>
              </a:lnSpc>
              <a:buFont typeface="Arial"/>
              <a:buChar char="•"/>
            </a:pPr>
            <a:r>
              <a:rPr lang="en-US" b="true" sz="2383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Jangka panjang: </a:t>
            </a:r>
            <a:r>
              <a:rPr lang="en-US" sz="238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Pengembangan dan perluasan </a:t>
            </a:r>
          </a:p>
          <a:p>
            <a:pPr algn="l" marL="471732" indent="-235866" lvl="1">
              <a:lnSpc>
                <a:spcPts val="4345"/>
              </a:lnSpc>
              <a:buFont typeface="Arial"/>
              <a:buChar char="•"/>
            </a:pPr>
            <a:r>
              <a:rPr lang="en-US" sz="218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Memperkuat login, keamanan, dan pengelolaan data.</a:t>
            </a:r>
          </a:p>
          <a:p>
            <a:pPr algn="l" marL="471732" indent="-235866" lvl="1">
              <a:lnSpc>
                <a:spcPts val="4346"/>
              </a:lnSpc>
              <a:buFont typeface="Arial"/>
              <a:buChar char="•"/>
            </a:pPr>
            <a:r>
              <a:rPr lang="en-US" sz="218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Menjajaki integrasi dengan SATUSEHAT sesuai persyaratan yang berlaku.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534505" y="4771368"/>
            <a:ext cx="4958963" cy="3874018"/>
          </a:xfrm>
          <a:custGeom>
            <a:avLst/>
            <a:gdLst/>
            <a:ahLst/>
            <a:cxnLst/>
            <a:rect r="r" b="b" t="t" l="l"/>
            <a:pathLst>
              <a:path h="3874018" w="4958963">
                <a:moveTo>
                  <a:pt x="4958963" y="0"/>
                </a:moveTo>
                <a:lnTo>
                  <a:pt x="0" y="0"/>
                </a:lnTo>
                <a:lnTo>
                  <a:pt x="0" y="3874017"/>
                </a:lnTo>
                <a:lnTo>
                  <a:pt x="4958963" y="3874017"/>
                </a:lnTo>
                <a:lnTo>
                  <a:pt x="49589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4634913" y="4771368"/>
            <a:ext cx="4958963" cy="3874018"/>
          </a:xfrm>
          <a:custGeom>
            <a:avLst/>
            <a:gdLst/>
            <a:ahLst/>
            <a:cxnLst/>
            <a:rect r="r" b="b" t="t" l="l"/>
            <a:pathLst>
              <a:path h="3874018" w="4958963">
                <a:moveTo>
                  <a:pt x="4958962" y="0"/>
                </a:moveTo>
                <a:lnTo>
                  <a:pt x="0" y="0"/>
                </a:lnTo>
                <a:lnTo>
                  <a:pt x="0" y="3874017"/>
                </a:lnTo>
                <a:lnTo>
                  <a:pt x="4958962" y="3874017"/>
                </a:lnTo>
                <a:lnTo>
                  <a:pt x="49589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8735330" y="4771368"/>
            <a:ext cx="4958963" cy="3874018"/>
          </a:xfrm>
          <a:custGeom>
            <a:avLst/>
            <a:gdLst/>
            <a:ahLst/>
            <a:cxnLst/>
            <a:rect r="r" b="b" t="t" l="l"/>
            <a:pathLst>
              <a:path h="3874018" w="4958963">
                <a:moveTo>
                  <a:pt x="4958963" y="0"/>
                </a:moveTo>
                <a:lnTo>
                  <a:pt x="0" y="0"/>
                </a:lnTo>
                <a:lnTo>
                  <a:pt x="0" y="3874017"/>
                </a:lnTo>
                <a:lnTo>
                  <a:pt x="4958963" y="3874017"/>
                </a:lnTo>
                <a:lnTo>
                  <a:pt x="49589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5400000">
            <a:off x="12835738" y="4771368"/>
            <a:ext cx="4958963" cy="3874018"/>
          </a:xfrm>
          <a:custGeom>
            <a:avLst/>
            <a:gdLst/>
            <a:ahLst/>
            <a:cxnLst/>
            <a:rect r="r" b="b" t="t" l="l"/>
            <a:pathLst>
              <a:path h="3874018" w="4958963">
                <a:moveTo>
                  <a:pt x="4958962" y="0"/>
                </a:moveTo>
                <a:lnTo>
                  <a:pt x="0" y="0"/>
                </a:lnTo>
                <a:lnTo>
                  <a:pt x="0" y="3874017"/>
                </a:lnTo>
                <a:lnTo>
                  <a:pt x="4958962" y="3874017"/>
                </a:lnTo>
                <a:lnTo>
                  <a:pt x="49589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98481" y="30861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98899" y="30861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99306" y="30861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399724" y="30861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442880">
            <a:off x="14284385" y="-74324"/>
            <a:ext cx="1862052" cy="1921440"/>
          </a:xfrm>
          <a:custGeom>
            <a:avLst/>
            <a:gdLst/>
            <a:ahLst/>
            <a:cxnLst/>
            <a:rect r="r" b="b" t="t" l="l"/>
            <a:pathLst>
              <a:path h="1921440" w="1862052">
                <a:moveTo>
                  <a:pt x="0" y="0"/>
                </a:moveTo>
                <a:lnTo>
                  <a:pt x="1862052" y="0"/>
                </a:lnTo>
                <a:lnTo>
                  <a:pt x="1862052" y="1921441"/>
                </a:lnTo>
                <a:lnTo>
                  <a:pt x="0" y="1921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84" r="0" b="-18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000125"/>
            <a:ext cx="13716000" cy="197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8"/>
              </a:lnSpc>
            </a:pP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BERTANGGUNG JAWAB:</a:t>
            </a:r>
          </a:p>
          <a:p>
            <a:pPr algn="l">
              <a:lnSpc>
                <a:spcPts val="6998"/>
              </a:lnSpc>
            </a:pP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AMAN UNTUK PENGGUNA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5373" y="5076825"/>
            <a:ext cx="3417237" cy="53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Tanggung jawab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05780" y="5076825"/>
            <a:ext cx="3417237" cy="53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Tanggung jawab output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06198" y="5076825"/>
            <a:ext cx="3417237" cy="53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Tanggung jawab tindakan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06605" y="5076825"/>
            <a:ext cx="3417237" cy="53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Keterbatasan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0926" y="5721734"/>
            <a:ext cx="3246120" cy="316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93040" indent="-96520" lvl="1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Hanya nama, umur, jenis kelamin, dan hasil ukur</a:t>
            </a:r>
          </a:p>
          <a:p>
            <a:pPr algn="just" marL="193040" indent="-96520" lvl="1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Kunci rahasia disimpan terpisah dari kode</a:t>
            </a:r>
          </a:p>
          <a:p>
            <a:pPr algn="just" marL="193040" indent="-96520" lvl="1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Satu pesan hanya untuk satu pasien</a:t>
            </a:r>
          </a:p>
          <a:p>
            <a:pPr algn="just" marL="193040" indent="-96520" lvl="1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Input dibersihkan; kiriman alat berkunci dan dibatasi frekuensinya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36382" y="5721734"/>
            <a:ext cx="3246120" cy="316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93040" indent="-96520" lvl="1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Selalu diingatkan: bukan diagnosis medis</a:t>
            </a:r>
          </a:p>
          <a:p>
            <a:pPr algn="just" marL="193040" indent="-96520" lvl="1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Menolak diagnosis, nama obat, dan dosis</a:t>
            </a:r>
          </a:p>
          <a:p>
            <a:pPr algn="just" marL="193040" indent="-96520" lvl="1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Tidak mengarang angka; hitung ulang bila ditanya</a:t>
            </a:r>
          </a:p>
          <a:p>
            <a:pPr algn="just" marL="193040" indent="-96520" lvl="1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Acuan jelas: AHA, Mayo Clinic, StatPearls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32428" y="5721734"/>
            <a:ext cx="3246120" cy="316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93040" indent="-96520" lvl="1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Penyaring pesan sebelum asisten AI; jika ragu, diblokir</a:t>
            </a:r>
          </a:p>
          <a:p>
            <a:pPr algn="just" marL="193040" indent="-96520" lvl="1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Chat hanya membaca, tidak mengubah data</a:t>
            </a:r>
          </a:p>
          <a:p>
            <a:pPr algn="just" marL="193040" indent="-96520" lvl="1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Gejala darurat → arahan 119/112, tanpa saran obat</a:t>
            </a:r>
          </a:p>
          <a:p>
            <a:pPr algn="just" marL="193040" indent="-96520" lvl="1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Status Tinggi → anjuran ke tenaga kesehatan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34602" y="5721734"/>
            <a:ext cx="3246120" cy="2361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93040" indent="-96520" lvl="1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Sensor bukan alat medis dan bacaannya bisa kurang stabil</a:t>
            </a:r>
          </a:p>
          <a:p>
            <a:pPr algn="just" marL="193040" indent="-96520" lvl="1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Rentang normal berlaku saat istirahat</a:t>
            </a:r>
          </a:p>
          <a:p>
            <a:pPr algn="just" marL="193040" indent="-96520" lvl="1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Google Sheets belum cocok untuk data skala besar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103120" y="3108960"/>
            <a:ext cx="2011680" cy="2011680"/>
            <a:chOff x="0" y="0"/>
            <a:chExt cx="2682240" cy="2682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2682240" cy="2663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999"/>
                </a:lnSpc>
              </a:pPr>
              <a:r>
                <a:rPr lang="en-US" sz="6000" b="true">
                  <a:solidFill>
                    <a:srgbClr val="2E6DB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17920" y="3108960"/>
            <a:ext cx="2011680" cy="2011680"/>
            <a:chOff x="0" y="0"/>
            <a:chExt cx="2682240" cy="2682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2682240" cy="2663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999"/>
                </a:lnSpc>
              </a:pPr>
              <a:r>
                <a:rPr lang="en-US" sz="6000" b="true">
                  <a:solidFill>
                    <a:srgbClr val="2E6DB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332720" y="3108960"/>
            <a:ext cx="2011680" cy="2011680"/>
            <a:chOff x="0" y="0"/>
            <a:chExt cx="2682240" cy="2682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2682240" cy="2663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999"/>
                </a:lnSpc>
              </a:pPr>
              <a:r>
                <a:rPr lang="en-US" sz="6000" b="true">
                  <a:solidFill>
                    <a:srgbClr val="2E6DB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356080" y="3108960"/>
            <a:ext cx="2011680" cy="2011680"/>
            <a:chOff x="0" y="0"/>
            <a:chExt cx="2682240" cy="2682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2682240" cy="2663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999"/>
                </a:lnSpc>
              </a:pPr>
              <a:r>
                <a:rPr lang="en-US" sz="6000" b="true">
                  <a:solidFill>
                    <a:srgbClr val="2E6DB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!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9825723" y="1028700"/>
            <a:ext cx="9149315" cy="9790128"/>
          </a:xfrm>
          <a:custGeom>
            <a:avLst/>
            <a:gdLst/>
            <a:ahLst/>
            <a:cxnLst/>
            <a:rect r="r" b="b" t="t" l="l"/>
            <a:pathLst>
              <a:path h="9790128" w="9149315">
                <a:moveTo>
                  <a:pt x="0" y="9790128"/>
                </a:moveTo>
                <a:lnTo>
                  <a:pt x="9149315" y="9790128"/>
                </a:lnTo>
                <a:lnTo>
                  <a:pt x="9149315" y="0"/>
                </a:lnTo>
                <a:lnTo>
                  <a:pt x="0" y="0"/>
                </a:lnTo>
                <a:lnTo>
                  <a:pt x="0" y="9790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" t="0" r="-1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660">
            <a:off x="13922578" y="6126994"/>
            <a:ext cx="5353650" cy="4711217"/>
          </a:xfrm>
          <a:custGeom>
            <a:avLst/>
            <a:gdLst/>
            <a:ahLst/>
            <a:cxnLst/>
            <a:rect r="r" b="b" t="t" l="l"/>
            <a:pathLst>
              <a:path h="4711217" w="5353650">
                <a:moveTo>
                  <a:pt x="0" y="0"/>
                </a:moveTo>
                <a:lnTo>
                  <a:pt x="5353650" y="0"/>
                </a:lnTo>
                <a:lnTo>
                  <a:pt x="5353650" y="4711218"/>
                </a:lnTo>
                <a:lnTo>
                  <a:pt x="0" y="47112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" t="0" r="-4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70022" y="3044142"/>
            <a:ext cx="6489278" cy="4636884"/>
          </a:xfrm>
          <a:custGeom>
            <a:avLst/>
            <a:gdLst/>
            <a:ahLst/>
            <a:cxnLst/>
            <a:rect r="r" b="b" t="t" l="l"/>
            <a:pathLst>
              <a:path h="4636884" w="6489278">
                <a:moveTo>
                  <a:pt x="0" y="0"/>
                </a:moveTo>
                <a:lnTo>
                  <a:pt x="6489278" y="0"/>
                </a:lnTo>
                <a:lnTo>
                  <a:pt x="6489278" y="4636885"/>
                </a:lnTo>
                <a:lnTo>
                  <a:pt x="0" y="4636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6" t="0" r="-10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82620">
            <a:off x="9301944" y="634956"/>
            <a:ext cx="2507704" cy="1851146"/>
          </a:xfrm>
          <a:custGeom>
            <a:avLst/>
            <a:gdLst/>
            <a:ahLst/>
            <a:cxnLst/>
            <a:rect r="r" b="b" t="t" l="l"/>
            <a:pathLst>
              <a:path h="1851146" w="2507704">
                <a:moveTo>
                  <a:pt x="0" y="0"/>
                </a:moveTo>
                <a:lnTo>
                  <a:pt x="2507703" y="0"/>
                </a:lnTo>
                <a:lnTo>
                  <a:pt x="2507703" y="1851145"/>
                </a:lnTo>
                <a:lnTo>
                  <a:pt x="0" y="18511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0" r="0" b="-3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504" y="2948892"/>
            <a:ext cx="8275219" cy="550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13"/>
              </a:lnSpc>
            </a:pPr>
            <a:r>
              <a:rPr lang="en-US" sz="28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Buktikan: </a:t>
            </a: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uji ketepatan sensor dan wawancarai kader untuk membuktikan dampak.</a:t>
            </a:r>
          </a:p>
          <a:p>
            <a:pPr algn="just">
              <a:lnSpc>
                <a:spcPts val="4413"/>
              </a:lnSpc>
            </a:pPr>
            <a:r>
              <a:rPr lang="en-US" sz="28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Perkuat: </a:t>
            </a: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login pengguna, izin pemakaian data, dan penyimpanan yang lebih aman.</a:t>
            </a:r>
          </a:p>
          <a:p>
            <a:pPr algn="just">
              <a:lnSpc>
                <a:spcPts val="4413"/>
              </a:lnSpc>
            </a:pPr>
            <a:r>
              <a:rPr lang="en-US" sz="28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Perluas: </a:t>
            </a: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uji coba di Posbindu/Puskesmas, lalu sambung ke SATUSEHAT.</a:t>
            </a:r>
          </a:p>
          <a:p>
            <a:pPr algn="just">
              <a:lnSpc>
                <a:spcPts val="4410"/>
              </a:lnSpc>
            </a:pPr>
            <a:r>
              <a:rPr lang="en-US" sz="28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PantauJantung: </a:t>
            </a: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setiap warga berhak paham kondisi jantungnya, di mana pun ia tinggal.</a:t>
            </a:r>
          </a:p>
          <a:p>
            <a:pPr algn="just">
              <a:lnSpc>
                <a:spcPts val="4413"/>
              </a:lnSpc>
            </a:pPr>
          </a:p>
          <a:p>
            <a:pPr algn="just">
              <a:lnSpc>
                <a:spcPts val="4413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546068" y="-380781"/>
            <a:ext cx="7315200" cy="3096025"/>
          </a:xfrm>
          <a:custGeom>
            <a:avLst/>
            <a:gdLst/>
            <a:ahLst/>
            <a:cxnLst/>
            <a:rect r="r" b="b" t="t" l="l"/>
            <a:pathLst>
              <a:path h="3096025" w="7315200">
                <a:moveTo>
                  <a:pt x="0" y="0"/>
                </a:moveTo>
                <a:lnTo>
                  <a:pt x="7315200" y="0"/>
                </a:lnTo>
                <a:lnTo>
                  <a:pt x="7315200" y="3096025"/>
                </a:lnTo>
                <a:lnTo>
                  <a:pt x="0" y="30960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82" r="0" b="-8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629094" y="8681247"/>
            <a:ext cx="5050603" cy="2137572"/>
          </a:xfrm>
          <a:custGeom>
            <a:avLst/>
            <a:gdLst/>
            <a:ahLst/>
            <a:cxnLst/>
            <a:rect r="r" b="b" t="t" l="l"/>
            <a:pathLst>
              <a:path h="2137572" w="5050603">
                <a:moveTo>
                  <a:pt x="0" y="2137572"/>
                </a:moveTo>
                <a:lnTo>
                  <a:pt x="5050603" y="2137572"/>
                </a:lnTo>
                <a:lnTo>
                  <a:pt x="5050603" y="0"/>
                </a:lnTo>
                <a:lnTo>
                  <a:pt x="0" y="0"/>
                </a:lnTo>
                <a:lnTo>
                  <a:pt x="0" y="2137572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0" y="3044142"/>
            <a:ext cx="1323463" cy="1277142"/>
          </a:xfrm>
          <a:custGeom>
            <a:avLst/>
            <a:gdLst/>
            <a:ahLst/>
            <a:cxnLst/>
            <a:rect r="r" b="b" t="t" l="l"/>
            <a:pathLst>
              <a:path h="1277142" w="1323463">
                <a:moveTo>
                  <a:pt x="1323463" y="0"/>
                </a:moveTo>
                <a:lnTo>
                  <a:pt x="0" y="0"/>
                </a:lnTo>
                <a:lnTo>
                  <a:pt x="0" y="1277143"/>
                </a:lnTo>
                <a:lnTo>
                  <a:pt x="1323463" y="1277143"/>
                </a:lnTo>
                <a:lnTo>
                  <a:pt x="1323463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047750"/>
            <a:ext cx="13716000" cy="1044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LANGKAH BERIKUTNYA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4215" y="7984763"/>
            <a:ext cx="9855845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Terima kasih · Farhat · IBM SkillsBuild National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DAHXs0hgbL0</dc:identifier>
  <dcterms:modified xsi:type="dcterms:W3CDTF">2011-08-01T06:04:30Z</dcterms:modified>
  <cp:revision>1</cp:revision>
  <dc:title>PantauJantung_Pitching_Deck_template.pptx</dc:title>
</cp:coreProperties>
</file>